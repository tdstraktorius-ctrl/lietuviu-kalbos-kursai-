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76" r:id="rId3"/>
    <p:sldId id="275" r:id="rId4"/>
    <p:sldId id="274" r:id="rId5"/>
    <p:sldId id="269" r:id="rId6"/>
    <p:sldId id="270" r:id="rId7"/>
    <p:sldId id="271" r:id="rId8"/>
    <p:sldId id="272" r:id="rId9"/>
    <p:sldId id="273" r:id="rId10"/>
    <p:sldId id="257" r:id="rId11"/>
    <p:sldId id="268" r:id="rId12"/>
    <p:sldId id="258" r:id="rId13"/>
    <p:sldId id="259" r:id="rId14"/>
    <p:sldId id="260" r:id="rId15"/>
    <p:sldId id="261" r:id="rId16"/>
    <p:sldId id="263" r:id="rId17"/>
    <p:sldId id="265" r:id="rId18"/>
    <p:sldId id="266"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28" autoAdjust="0"/>
    <p:restoredTop sz="94660"/>
  </p:normalViewPr>
  <p:slideViewPr>
    <p:cSldViewPr>
      <p:cViewPr varScale="1">
        <p:scale>
          <a:sx n="105" d="100"/>
          <a:sy n="105" d="100"/>
        </p:scale>
        <p:origin x="181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fld id="{BBD06CF9-829B-4860-A958-CDD97C97A237}" type="datetimeFigureOut">
              <a:rPr lang="en-US" smtClean="0"/>
              <a:t>2/24/2026</a:t>
            </a:fld>
            <a:endParaRPr lang="en-US"/>
          </a:p>
        </p:txBody>
      </p:sp>
      <p:sp>
        <p:nvSpPr>
          <p:cNvPr id="11" name="Slide Number Placeholder 10"/>
          <p:cNvSpPr>
            <a:spLocks noGrp="1"/>
          </p:cNvSpPr>
          <p:nvPr>
            <p:ph type="sldNum" sz="quarter" idx="11"/>
          </p:nvPr>
        </p:nvSpPr>
        <p:spPr/>
        <p:txBody>
          <a:bodyPr/>
          <a:lstStyle>
            <a:lvl1pPr>
              <a:defRPr>
                <a:solidFill>
                  <a:srgbClr val="FFFFFF"/>
                </a:solidFill>
              </a:defRPr>
            </a:lvl1pPr>
          </a:lstStyle>
          <a:p>
            <a:fld id="{9AD1EEFC-F0D2-4B90-96C5-8906D79CDC86}" type="slidenum">
              <a:rPr lang="en-US" smtClean="0"/>
              <a:t>‹#›</a:t>
            </a:fld>
            <a:endParaRPr lang="en-US"/>
          </a:p>
        </p:txBody>
      </p:sp>
      <p:sp>
        <p:nvSpPr>
          <p:cNvPr id="12" name="Footer Placeholder 11"/>
          <p:cNvSpPr>
            <a:spLocks noGrp="1"/>
          </p:cNvSpPr>
          <p:nvPr>
            <p:ph type="ftr" sz="quarter" idx="12"/>
          </p:nvPr>
        </p:nvSpPr>
        <p:spPr/>
        <p:txBody>
          <a:bodyPr/>
          <a:lstStyle>
            <a:lvl1pPr>
              <a:defRPr>
                <a:solidFill>
                  <a:schemeClr val="bg2"/>
                </a:solidFill>
              </a:defRPr>
            </a:lvl1pPr>
          </a:lstStyle>
          <a:p>
            <a:endParaRPr lang="en-US"/>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D06CF9-829B-4860-A958-CDD97C97A237}"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D1EEFC-F0D2-4B90-96C5-8906D79CDC86}" type="slidenum">
              <a:rPr lang="en-US" smtClean="0"/>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fld id="{BBD06CF9-829B-4860-A958-CDD97C97A237}" type="datetimeFigureOut">
              <a:rPr lang="en-US" smtClean="0"/>
              <a:t>2/24/2026</a:t>
            </a:fld>
            <a:endParaRPr lang="en-US"/>
          </a:p>
        </p:txBody>
      </p:sp>
      <p:sp>
        <p:nvSpPr>
          <p:cNvPr id="10" name="Slide Number Placeholder 9"/>
          <p:cNvSpPr>
            <a:spLocks noGrp="1"/>
          </p:cNvSpPr>
          <p:nvPr>
            <p:ph type="sldNum" sz="quarter" idx="11"/>
          </p:nvPr>
        </p:nvSpPr>
        <p:spPr/>
        <p:txBody>
          <a:bodyPr/>
          <a:lstStyle>
            <a:lvl1pPr>
              <a:defRPr>
                <a:solidFill>
                  <a:schemeClr val="bg2"/>
                </a:solidFill>
              </a:defRPr>
            </a:lvl1pPr>
          </a:lstStyle>
          <a:p>
            <a:fld id="{9AD1EEFC-F0D2-4B90-96C5-8906D79CDC86}" type="slidenum">
              <a:rPr lang="en-US" smtClean="0"/>
              <a:t>‹#›</a:t>
            </a:fld>
            <a:endParaRPr lang="en-US"/>
          </a:p>
        </p:txBody>
      </p:sp>
      <p:sp>
        <p:nvSpPr>
          <p:cNvPr id="11" name="Footer Placeholder 10"/>
          <p:cNvSpPr>
            <a:spLocks noGrp="1"/>
          </p:cNvSpPr>
          <p:nvPr>
            <p:ph type="ftr" sz="quarter" idx="12"/>
          </p:nvPr>
        </p:nvSpPr>
        <p:spPr/>
        <p:txBody>
          <a:bodyPr/>
          <a:lstStyle>
            <a:lvl1pPr>
              <a:defRPr>
                <a:solidFill>
                  <a:srgbClr val="FFFFFF"/>
                </a:solidFill>
              </a:defRPr>
            </a:lvl1pPr>
          </a:lstStyle>
          <a:p>
            <a:endParaRPr lang="en-US"/>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BD06CF9-829B-4860-A958-CDD97C97A237}"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D1EEFC-F0D2-4B90-96C5-8906D79CDC86}" type="slidenum">
              <a:rPr lang="en-US" smtClean="0"/>
              <a:t>‹#›</a:t>
            </a:fld>
            <a:endParaRPr lang="en-US"/>
          </a:p>
        </p:txBody>
      </p:sp>
      <p:sp>
        <p:nvSpPr>
          <p:cNvPr id="8" name="Title 7"/>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D06CF9-829B-4860-A958-CDD97C97A237}"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D1EEFC-F0D2-4B90-96C5-8906D79CDC86}"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BD06CF9-829B-4860-A958-CDD97C97A237}"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D1EEFC-F0D2-4B90-96C5-8906D79CDC86}"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BBD06CF9-829B-4860-A958-CDD97C97A237}"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D1EEFC-F0D2-4B90-96C5-8906D79CDC8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D06CF9-829B-4860-A958-CDD97C97A237}"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fld id="{9AD1EEFC-F0D2-4B90-96C5-8906D79CDC86}" type="slidenum">
              <a:rPr lang="en-US" smtClean="0"/>
              <a:t>‹#›</a:t>
            </a:fld>
            <a:endParaRPr lang="en-US"/>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D06CF9-829B-4860-A958-CDD97C97A237}"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D1EEFC-F0D2-4B90-96C5-8906D79CDC86}" type="slidenum">
              <a:rPr lang="en-US" smtClean="0"/>
              <a:t>‹#›</a:t>
            </a:fld>
            <a:endParaRPr lang="en-US"/>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D06CF9-829B-4860-A958-CDD97C97A237}"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D1EEFC-F0D2-4B90-96C5-8906D79CDC8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D06CF9-829B-4860-A958-CDD97C97A237}"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9AD1EEFC-F0D2-4B90-96C5-8906D79CDC8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fld id="{BBD06CF9-829B-4860-A958-CDD97C97A237}" type="datetimeFigureOut">
              <a:rPr lang="en-US" smtClean="0"/>
              <a:t>2/24/2026</a:t>
            </a:fld>
            <a:endParaRPr lang="en-US"/>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endParaRPr lang="en-US"/>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fld id="{9AD1EEFC-F0D2-4B90-96C5-8906D79CDC8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ekalba.lt/public?fbclid=IwAR2s5fxsCprbY0r2rqpyH_BiNth1joMDS6u_DRWaz7BMYxPt2-YUQ8Tk06I#/home/main" TargetMode="External"/><Relationship Id="rId2" Type="http://schemas.openxmlformats.org/officeDocument/2006/relationships/hyperlink" Target="https://ekalba.lki.lt/?fbclid=IwAR1l90njSPyhjNe7j4Rljts7BI3Jbqhn4Wmn7RRfh3gQb_1xAUyfH3cIz3Q" TargetMode="External"/><Relationship Id="rId1" Type="http://schemas.openxmlformats.org/officeDocument/2006/relationships/slideLayout" Target="../slideLayouts/slideLayout2.xml"/><Relationship Id="rId4" Type="http://schemas.openxmlformats.org/officeDocument/2006/relationships/hyperlink" Target="https://pasauliolietuvis.lt/beribis-lietuviu-kalbos-pasaulis-skaitmeniniu-istekliu-sistemoje-e-kalba/?fbclid=IwAR0lkYgTB73xpYQ_KZ54OqODYQfDdZkS7xlnuzfCU5JI0J8ho9usuWXqz0c"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fb.watch/3ATFSppGY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gi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pPr algn="ctr"/>
            <a:r>
              <a:rPr lang="lt-LT" dirty="0"/>
              <a:t>Vilma Leonavičienė</a:t>
            </a:r>
            <a:endParaRPr lang="en-US" dirty="0"/>
          </a:p>
        </p:txBody>
      </p:sp>
      <p:sp>
        <p:nvSpPr>
          <p:cNvPr id="2" name="Title 1"/>
          <p:cNvSpPr>
            <a:spLocks noGrp="1"/>
          </p:cNvSpPr>
          <p:nvPr>
            <p:ph type="title"/>
          </p:nvPr>
        </p:nvSpPr>
        <p:spPr/>
        <p:txBody>
          <a:bodyPr/>
          <a:lstStyle/>
          <a:p>
            <a:pPr algn="ctr"/>
            <a:r>
              <a:rPr lang="lt-LT" dirty="0"/>
              <a:t>Apie lietuvių kalbą</a:t>
            </a:r>
            <a:endParaRPr lang="en-US" dirty="0"/>
          </a:p>
        </p:txBody>
      </p:sp>
    </p:spTree>
    <p:extLst>
      <p:ext uri="{BB962C8B-B14F-4D97-AF65-F5344CB8AC3E}">
        <p14:creationId xmlns:p14="http://schemas.microsoft.com/office/powerpoint/2010/main" val="548972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31D498-4629-1CC5-0342-0A264A071A6D}"/>
              </a:ext>
            </a:extLst>
          </p:cNvPr>
          <p:cNvSpPr>
            <a:spLocks noGrp="1"/>
          </p:cNvSpPr>
          <p:nvPr>
            <p:ph idx="1"/>
          </p:nvPr>
        </p:nvSpPr>
        <p:spPr/>
        <p:txBody>
          <a:bodyPr>
            <a:normAutofit fontScale="55000" lnSpcReduction="20000"/>
          </a:bodyPr>
          <a:lstStyle/>
          <a:p>
            <a:pPr marL="45720" indent="0">
              <a:buNone/>
            </a:pPr>
            <a:r>
              <a:rPr lang="lt-LT" sz="2200" b="1" dirty="0">
                <a:latin typeface="Times New Roman" panose="02020603050405020304" pitchFamily="18" charset="0"/>
                <a:cs typeface="Times New Roman" panose="02020603050405020304" pitchFamily="18" charset="0"/>
              </a:rPr>
              <a:t>Unikalios lietuvių kalbos gramatinės formos</a:t>
            </a:r>
          </a:p>
          <a:p>
            <a:pPr marL="45720" indent="0">
              <a:buNone/>
            </a:pPr>
            <a:r>
              <a:rPr lang="lt-LT" sz="2200" dirty="0">
                <a:latin typeface="Times New Roman" panose="02020603050405020304" pitchFamily="18" charset="0"/>
                <a:cs typeface="Times New Roman" panose="02020603050405020304" pitchFamily="18" charset="0"/>
              </a:rPr>
              <a:t>1️⃣ </a:t>
            </a:r>
            <a:r>
              <a:rPr lang="lt-LT" sz="2200" b="1" dirty="0">
                <a:latin typeface="Times New Roman" panose="02020603050405020304" pitchFamily="18" charset="0"/>
                <a:cs typeface="Times New Roman" panose="02020603050405020304" pitchFamily="18" charset="0"/>
              </a:rPr>
              <a:t>Septyni linksniai (ir net aštuntas!)</a:t>
            </a:r>
            <a:br>
              <a:rPr lang="lt-LT" sz="2200" dirty="0">
                <a:latin typeface="Times New Roman" panose="02020603050405020304" pitchFamily="18" charset="0"/>
                <a:cs typeface="Times New Roman" panose="02020603050405020304" pitchFamily="18" charset="0"/>
              </a:rPr>
            </a:br>
            <a:r>
              <a:rPr lang="lt-LT" sz="2200" dirty="0">
                <a:latin typeface="Times New Roman" panose="02020603050405020304" pitchFamily="18" charset="0"/>
                <a:cs typeface="Times New Roman" panose="02020603050405020304" pitchFamily="18" charset="0"/>
              </a:rPr>
              <a:t>Lietuvių kalboje daiktavardžiai turi </a:t>
            </a:r>
            <a:r>
              <a:rPr lang="lt-LT" sz="2200" b="1" dirty="0">
                <a:latin typeface="Times New Roman" panose="02020603050405020304" pitchFamily="18" charset="0"/>
                <a:cs typeface="Times New Roman" panose="02020603050405020304" pitchFamily="18" charset="0"/>
              </a:rPr>
              <a:t>septynis linksnius</a:t>
            </a:r>
            <a:r>
              <a:rPr lang="lt-LT" sz="2200" dirty="0">
                <a:latin typeface="Times New Roman" panose="02020603050405020304" pitchFamily="18" charset="0"/>
                <a:cs typeface="Times New Roman" panose="02020603050405020304" pitchFamily="18" charset="0"/>
              </a:rPr>
              <a:t> – vardininką, kilmininką, naudininką, galininką, </a:t>
            </a:r>
            <a:r>
              <a:rPr lang="lt-LT" sz="2200" dirty="0" err="1">
                <a:latin typeface="Times New Roman" panose="02020603050405020304" pitchFamily="18" charset="0"/>
                <a:cs typeface="Times New Roman" panose="02020603050405020304" pitchFamily="18" charset="0"/>
              </a:rPr>
              <a:t>įnagininką</a:t>
            </a:r>
            <a:r>
              <a:rPr lang="lt-LT" sz="2200" dirty="0">
                <a:latin typeface="Times New Roman" panose="02020603050405020304" pitchFamily="18" charset="0"/>
                <a:cs typeface="Times New Roman" panose="02020603050405020304" pitchFamily="18" charset="0"/>
              </a:rPr>
              <a:t>, vietininką ir </a:t>
            </a:r>
            <a:r>
              <a:rPr lang="lt-LT" sz="2200" dirty="0" err="1">
                <a:latin typeface="Times New Roman" panose="02020603050405020304" pitchFamily="18" charset="0"/>
                <a:cs typeface="Times New Roman" panose="02020603050405020304" pitchFamily="18" charset="0"/>
              </a:rPr>
              <a:t>šauksmininką</a:t>
            </a:r>
            <a:r>
              <a:rPr lang="lt-LT" sz="2200" dirty="0">
                <a:latin typeface="Times New Roman" panose="02020603050405020304" pitchFamily="18" charset="0"/>
                <a:cs typeface="Times New Roman" panose="02020603050405020304" pitchFamily="18" charset="0"/>
              </a:rPr>
              <a:t>.</a:t>
            </a:r>
            <a:br>
              <a:rPr lang="lt-LT" sz="2200" dirty="0">
                <a:latin typeface="Times New Roman" panose="02020603050405020304" pitchFamily="18" charset="0"/>
                <a:cs typeface="Times New Roman" panose="02020603050405020304" pitchFamily="18" charset="0"/>
              </a:rPr>
            </a:br>
            <a:r>
              <a:rPr lang="lt-LT" sz="2200" dirty="0">
                <a:latin typeface="Times New Roman" panose="02020603050405020304" pitchFamily="18" charset="0"/>
                <a:cs typeface="Times New Roman" panose="02020603050405020304" pitchFamily="18" charset="0"/>
              </a:rPr>
              <a:t>Senesnėje kalboje egzistavo ir </a:t>
            </a:r>
            <a:r>
              <a:rPr lang="lt-LT" sz="2200" b="1" dirty="0">
                <a:latin typeface="Times New Roman" panose="02020603050405020304" pitchFamily="18" charset="0"/>
                <a:cs typeface="Times New Roman" panose="02020603050405020304" pitchFamily="18" charset="0"/>
              </a:rPr>
              <a:t>aštuntasis – </a:t>
            </a:r>
            <a:r>
              <a:rPr lang="lt-LT" sz="2200" b="1" dirty="0" err="1">
                <a:latin typeface="Times New Roman" panose="02020603050405020304" pitchFamily="18" charset="0"/>
                <a:cs typeface="Times New Roman" panose="02020603050405020304" pitchFamily="18" charset="0"/>
              </a:rPr>
              <a:t>iliatyvas</a:t>
            </a:r>
            <a:r>
              <a:rPr lang="lt-LT" sz="2200" dirty="0">
                <a:latin typeface="Times New Roman" panose="02020603050405020304" pitchFamily="18" charset="0"/>
                <a:cs typeface="Times New Roman" panose="02020603050405020304" pitchFamily="18" charset="0"/>
              </a:rPr>
              <a:t>, pvz. </a:t>
            </a:r>
            <a:r>
              <a:rPr lang="lt-LT" sz="2200" i="1" dirty="0">
                <a:latin typeface="Times New Roman" panose="02020603050405020304" pitchFamily="18" charset="0"/>
                <a:cs typeface="Times New Roman" panose="02020603050405020304" pitchFamily="18" charset="0"/>
              </a:rPr>
              <a:t>„einu </a:t>
            </a:r>
            <a:r>
              <a:rPr lang="lt-LT" sz="2200" i="1" dirty="0" err="1">
                <a:latin typeface="Times New Roman" panose="02020603050405020304" pitchFamily="18" charset="0"/>
                <a:cs typeface="Times New Roman" panose="02020603050405020304" pitchFamily="18" charset="0"/>
              </a:rPr>
              <a:t>namopi</a:t>
            </a:r>
            <a:r>
              <a:rPr lang="lt-LT" sz="2200" i="1" dirty="0">
                <a:latin typeface="Times New Roman" panose="02020603050405020304" pitchFamily="18" charset="0"/>
                <a:cs typeface="Times New Roman" panose="02020603050405020304" pitchFamily="18" charset="0"/>
              </a:rPr>
              <a:t>“</a:t>
            </a:r>
            <a:r>
              <a:rPr lang="lt-LT" sz="2200" dirty="0">
                <a:latin typeface="Times New Roman" panose="02020603050405020304" pitchFamily="18" charset="0"/>
                <a:cs typeface="Times New Roman" panose="02020603050405020304" pitchFamily="18" charset="0"/>
              </a:rPr>
              <a:t> (į namus).</a:t>
            </a:r>
            <a:br>
              <a:rPr lang="lt-LT" sz="2200" dirty="0">
                <a:latin typeface="Times New Roman" panose="02020603050405020304" pitchFamily="18" charset="0"/>
                <a:cs typeface="Times New Roman" panose="02020603050405020304" pitchFamily="18" charset="0"/>
              </a:rPr>
            </a:br>
            <a:endParaRPr lang="lt-LT" sz="2200" dirty="0">
              <a:latin typeface="Times New Roman" panose="02020603050405020304" pitchFamily="18" charset="0"/>
              <a:cs typeface="Times New Roman" panose="02020603050405020304" pitchFamily="18" charset="0"/>
            </a:endParaRPr>
          </a:p>
          <a:p>
            <a:pPr marL="45720" indent="0">
              <a:buNone/>
            </a:pPr>
            <a:r>
              <a:rPr lang="lt-LT" sz="2200" dirty="0">
                <a:latin typeface="Times New Roman" panose="02020603050405020304" pitchFamily="18" charset="0"/>
                <a:cs typeface="Times New Roman" panose="02020603050405020304" pitchFamily="18" charset="0"/>
              </a:rPr>
              <a:t>2️⃣ </a:t>
            </a:r>
            <a:r>
              <a:rPr lang="lt-LT" sz="2200" b="1" dirty="0">
                <a:latin typeface="Times New Roman" panose="02020603050405020304" pitchFamily="18" charset="0"/>
                <a:cs typeface="Times New Roman" panose="02020603050405020304" pitchFamily="18" charset="0"/>
              </a:rPr>
              <a:t>Veiksmažodžio laikai ir nuosakos</a:t>
            </a:r>
            <a:br>
              <a:rPr lang="lt-LT" sz="2200" dirty="0">
                <a:latin typeface="Times New Roman" panose="02020603050405020304" pitchFamily="18" charset="0"/>
                <a:cs typeface="Times New Roman" panose="02020603050405020304" pitchFamily="18" charset="0"/>
              </a:rPr>
            </a:br>
            <a:r>
              <a:rPr lang="lt-LT" sz="2200" dirty="0">
                <a:latin typeface="Times New Roman" panose="02020603050405020304" pitchFamily="18" charset="0"/>
                <a:cs typeface="Times New Roman" panose="02020603050405020304" pitchFamily="18" charset="0"/>
              </a:rPr>
              <a:t>Be įprastų laikų, lietuvių kalboje yra </a:t>
            </a:r>
            <a:r>
              <a:rPr lang="lt-LT" sz="2200" b="1" dirty="0">
                <a:latin typeface="Times New Roman" panose="02020603050405020304" pitchFamily="18" charset="0"/>
                <a:cs typeface="Times New Roman" panose="02020603050405020304" pitchFamily="18" charset="0"/>
              </a:rPr>
              <a:t>tariamasis</a:t>
            </a:r>
            <a:r>
              <a:rPr lang="lt-LT" sz="2200" dirty="0">
                <a:latin typeface="Times New Roman" panose="02020603050405020304" pitchFamily="18" charset="0"/>
                <a:cs typeface="Times New Roman" panose="02020603050405020304" pitchFamily="18" charset="0"/>
              </a:rPr>
              <a:t> (</a:t>
            </a:r>
            <a:r>
              <a:rPr lang="lt-LT" sz="2200" i="1" dirty="0">
                <a:latin typeface="Times New Roman" panose="02020603050405020304" pitchFamily="18" charset="0"/>
                <a:cs typeface="Times New Roman" panose="02020603050405020304" pitchFamily="18" charset="0"/>
              </a:rPr>
              <a:t>daryčiau</a:t>
            </a:r>
            <a:r>
              <a:rPr lang="lt-LT" sz="2200" dirty="0">
                <a:latin typeface="Times New Roman" panose="02020603050405020304" pitchFamily="18" charset="0"/>
                <a:cs typeface="Times New Roman" panose="02020603050405020304" pitchFamily="18" charset="0"/>
              </a:rPr>
              <a:t>), </a:t>
            </a:r>
            <a:r>
              <a:rPr lang="lt-LT" sz="2200" b="1" dirty="0">
                <a:latin typeface="Times New Roman" panose="02020603050405020304" pitchFamily="18" charset="0"/>
                <a:cs typeface="Times New Roman" panose="02020603050405020304" pitchFamily="18" charset="0"/>
              </a:rPr>
              <a:t>liepiamasis</a:t>
            </a:r>
            <a:r>
              <a:rPr lang="lt-LT" sz="2200" dirty="0">
                <a:latin typeface="Times New Roman" panose="02020603050405020304" pitchFamily="18" charset="0"/>
                <a:cs typeface="Times New Roman" panose="02020603050405020304" pitchFamily="18" charset="0"/>
              </a:rPr>
              <a:t> (</a:t>
            </a:r>
            <a:r>
              <a:rPr lang="lt-LT" sz="2200" i="1" dirty="0">
                <a:latin typeface="Times New Roman" panose="02020603050405020304" pitchFamily="18" charset="0"/>
                <a:cs typeface="Times New Roman" panose="02020603050405020304" pitchFamily="18" charset="0"/>
              </a:rPr>
              <a:t>daryk!</a:t>
            </a:r>
            <a:r>
              <a:rPr lang="lt-LT" sz="2200" dirty="0">
                <a:latin typeface="Times New Roman" panose="02020603050405020304" pitchFamily="18" charset="0"/>
                <a:cs typeface="Times New Roman" panose="02020603050405020304" pitchFamily="18" charset="0"/>
              </a:rPr>
              <a:t>) ir net </a:t>
            </a:r>
            <a:r>
              <a:rPr lang="lt-LT" sz="2200" b="1" dirty="0" err="1">
                <a:latin typeface="Times New Roman" panose="02020603050405020304" pitchFamily="18" charset="0"/>
                <a:cs typeface="Times New Roman" panose="02020603050405020304" pitchFamily="18" charset="0"/>
              </a:rPr>
              <a:t>įsakyminis</a:t>
            </a:r>
            <a:r>
              <a:rPr lang="lt-LT" sz="2200" b="1" dirty="0">
                <a:latin typeface="Times New Roman" panose="02020603050405020304" pitchFamily="18" charset="0"/>
                <a:cs typeface="Times New Roman" panose="02020603050405020304" pitchFamily="18" charset="0"/>
              </a:rPr>
              <a:t> be įsakymo</a:t>
            </a:r>
            <a:r>
              <a:rPr lang="lt-LT" sz="2200" dirty="0">
                <a:latin typeface="Times New Roman" panose="02020603050405020304" pitchFamily="18" charset="0"/>
                <a:cs typeface="Times New Roman" panose="02020603050405020304" pitchFamily="18" charset="0"/>
              </a:rPr>
              <a:t> – pvz. </a:t>
            </a:r>
            <a:r>
              <a:rPr lang="lt-LT" sz="2200" i="1" dirty="0">
                <a:latin typeface="Times New Roman" panose="02020603050405020304" pitchFamily="18" charset="0"/>
                <a:cs typeface="Times New Roman" panose="02020603050405020304" pitchFamily="18" charset="0"/>
              </a:rPr>
              <a:t>„tegu daro“</a:t>
            </a:r>
            <a:r>
              <a:rPr lang="lt-LT" sz="2200" dirty="0">
                <a:latin typeface="Times New Roman" panose="02020603050405020304" pitchFamily="18" charset="0"/>
                <a:cs typeface="Times New Roman" panose="02020603050405020304" pitchFamily="18" charset="0"/>
              </a:rPr>
              <a:t>, kuris reiškia linkėjimą ar leistinumą.</a:t>
            </a:r>
            <a:br>
              <a:rPr lang="lt-LT" sz="2200" dirty="0">
                <a:latin typeface="Times New Roman" panose="02020603050405020304" pitchFamily="18" charset="0"/>
                <a:cs typeface="Times New Roman" panose="02020603050405020304" pitchFamily="18" charset="0"/>
              </a:rPr>
            </a:br>
            <a:endParaRPr lang="lt-LT" sz="2200" dirty="0">
              <a:latin typeface="Times New Roman" panose="02020603050405020304" pitchFamily="18" charset="0"/>
              <a:cs typeface="Times New Roman" panose="02020603050405020304" pitchFamily="18" charset="0"/>
            </a:endParaRPr>
          </a:p>
          <a:p>
            <a:pPr marL="45720" indent="0">
              <a:buNone/>
            </a:pPr>
            <a:r>
              <a:rPr lang="lt-LT" sz="2200" dirty="0">
                <a:latin typeface="Times New Roman" panose="02020603050405020304" pitchFamily="18" charset="0"/>
                <a:cs typeface="Times New Roman" panose="02020603050405020304" pitchFamily="18" charset="0"/>
              </a:rPr>
              <a:t>3️⃣ </a:t>
            </a:r>
            <a:r>
              <a:rPr lang="lt-LT" sz="2200" b="1" dirty="0">
                <a:latin typeface="Times New Roman" panose="02020603050405020304" pitchFamily="18" charset="0"/>
                <a:cs typeface="Times New Roman" panose="02020603050405020304" pitchFamily="18" charset="0"/>
              </a:rPr>
              <a:t>Daug veiksmažodžių formų iš vieno kamieno</a:t>
            </a:r>
            <a:br>
              <a:rPr lang="lt-LT" sz="2200" dirty="0">
                <a:latin typeface="Times New Roman" panose="02020603050405020304" pitchFamily="18" charset="0"/>
                <a:cs typeface="Times New Roman" panose="02020603050405020304" pitchFamily="18" charset="0"/>
              </a:rPr>
            </a:br>
            <a:r>
              <a:rPr lang="lt-LT" sz="2200" dirty="0">
                <a:latin typeface="Times New Roman" panose="02020603050405020304" pitchFamily="18" charset="0"/>
                <a:cs typeface="Times New Roman" panose="02020603050405020304" pitchFamily="18" charset="0"/>
              </a:rPr>
              <a:t>Iš vieno žodžio galima padaryti daugybę formų:</a:t>
            </a:r>
            <a:br>
              <a:rPr lang="lt-LT" sz="2200" dirty="0">
                <a:latin typeface="Times New Roman" panose="02020603050405020304" pitchFamily="18" charset="0"/>
                <a:cs typeface="Times New Roman" panose="02020603050405020304" pitchFamily="18" charset="0"/>
              </a:rPr>
            </a:br>
            <a:r>
              <a:rPr lang="lt-LT" sz="2200" dirty="0">
                <a:latin typeface="Times New Roman" panose="02020603050405020304" pitchFamily="18" charset="0"/>
                <a:cs typeface="Times New Roman" panose="02020603050405020304" pitchFamily="18" charset="0"/>
              </a:rPr>
              <a:t>pvz. iš </a:t>
            </a:r>
            <a:r>
              <a:rPr lang="lt-LT" sz="2200" i="1" dirty="0">
                <a:latin typeface="Times New Roman" panose="02020603050405020304" pitchFamily="18" charset="0"/>
                <a:cs typeface="Times New Roman" panose="02020603050405020304" pitchFamily="18" charset="0"/>
              </a:rPr>
              <a:t>„eiti“</a:t>
            </a:r>
            <a:r>
              <a:rPr lang="lt-LT" sz="2200" dirty="0">
                <a:latin typeface="Times New Roman" panose="02020603050405020304" pitchFamily="18" charset="0"/>
                <a:cs typeface="Times New Roman" panose="02020603050405020304" pitchFamily="18" charset="0"/>
              </a:rPr>
              <a:t> – </a:t>
            </a:r>
            <a:r>
              <a:rPr lang="lt-LT" sz="2200" i="1" dirty="0">
                <a:latin typeface="Times New Roman" panose="02020603050405020304" pitchFamily="18" charset="0"/>
                <a:cs typeface="Times New Roman" panose="02020603050405020304" pitchFamily="18" charset="0"/>
              </a:rPr>
              <a:t>einame, nueis, ėjau, eidamas, nuėjome, tegu eina</a:t>
            </a:r>
            <a:r>
              <a:rPr lang="lt-LT" sz="2200" dirty="0">
                <a:latin typeface="Times New Roman" panose="02020603050405020304" pitchFamily="18" charset="0"/>
                <a:cs typeface="Times New Roman" panose="02020603050405020304" pitchFamily="18" charset="0"/>
              </a:rPr>
              <a:t>.</a:t>
            </a:r>
            <a:br>
              <a:rPr lang="lt-LT" sz="2200" dirty="0">
                <a:latin typeface="Times New Roman" panose="02020603050405020304" pitchFamily="18" charset="0"/>
                <a:cs typeface="Times New Roman" panose="02020603050405020304" pitchFamily="18" charset="0"/>
              </a:rPr>
            </a:br>
            <a:r>
              <a:rPr lang="lt-LT" sz="2200" dirty="0">
                <a:latin typeface="Times New Roman" panose="02020603050405020304" pitchFamily="18" charset="0"/>
                <a:cs typeface="Times New Roman" panose="02020603050405020304" pitchFamily="18" charset="0"/>
              </a:rPr>
              <a:t>Tai rodo, kad lietuvių kalba turi </a:t>
            </a:r>
            <a:r>
              <a:rPr lang="lt-LT" sz="2200" b="1" dirty="0">
                <a:latin typeface="Times New Roman" panose="02020603050405020304" pitchFamily="18" charset="0"/>
                <a:cs typeface="Times New Roman" panose="02020603050405020304" pitchFamily="18" charset="0"/>
              </a:rPr>
              <a:t>turtingą veiksmažodžių darybą</a:t>
            </a:r>
            <a:r>
              <a:rPr lang="lt-LT" sz="2200" dirty="0">
                <a:latin typeface="Times New Roman" panose="02020603050405020304" pitchFamily="18" charset="0"/>
                <a:cs typeface="Times New Roman" panose="02020603050405020304" pitchFamily="18" charset="0"/>
              </a:rPr>
              <a:t>.</a:t>
            </a:r>
          </a:p>
          <a:p>
            <a:pPr marL="45720" indent="0">
              <a:buNone/>
            </a:pPr>
            <a:br>
              <a:rPr lang="lt-LT" sz="2200" dirty="0">
                <a:latin typeface="Times New Roman" panose="02020603050405020304" pitchFamily="18" charset="0"/>
                <a:cs typeface="Times New Roman" panose="02020603050405020304" pitchFamily="18" charset="0"/>
              </a:rPr>
            </a:br>
            <a:r>
              <a:rPr lang="lt-LT" sz="2200" dirty="0">
                <a:latin typeface="Times New Roman" panose="02020603050405020304" pitchFamily="18" charset="0"/>
                <a:cs typeface="Times New Roman" panose="02020603050405020304" pitchFamily="18" charset="0"/>
              </a:rPr>
              <a:t>4️⃣ </a:t>
            </a:r>
            <a:r>
              <a:rPr lang="lt-LT" sz="2200" b="1" dirty="0">
                <a:latin typeface="Times New Roman" panose="02020603050405020304" pitchFamily="18" charset="0"/>
                <a:cs typeface="Times New Roman" panose="02020603050405020304" pitchFamily="18" charset="0"/>
              </a:rPr>
              <a:t>Mažybinės  / </a:t>
            </a:r>
            <a:r>
              <a:rPr lang="lt-LT" sz="2200" b="1" dirty="0" err="1">
                <a:latin typeface="Times New Roman" panose="02020603050405020304" pitchFamily="18" charset="0"/>
                <a:cs typeface="Times New Roman" panose="02020603050405020304" pitchFamily="18" charset="0"/>
              </a:rPr>
              <a:t>deminutyvinės</a:t>
            </a:r>
            <a:r>
              <a:rPr lang="lt-LT" sz="2200" b="1" dirty="0">
                <a:latin typeface="Times New Roman" panose="02020603050405020304" pitchFamily="18" charset="0"/>
                <a:cs typeface="Times New Roman" panose="02020603050405020304" pitchFamily="18" charset="0"/>
              </a:rPr>
              <a:t> formos</a:t>
            </a:r>
            <a:br>
              <a:rPr lang="lt-LT" sz="2200" dirty="0">
                <a:latin typeface="Times New Roman" panose="02020603050405020304" pitchFamily="18" charset="0"/>
                <a:cs typeface="Times New Roman" panose="02020603050405020304" pitchFamily="18" charset="0"/>
              </a:rPr>
            </a:br>
            <a:r>
              <a:rPr lang="lt-LT" sz="2200" dirty="0">
                <a:latin typeface="Times New Roman" panose="02020603050405020304" pitchFamily="18" charset="0"/>
                <a:cs typeface="Times New Roman" panose="02020603050405020304" pitchFamily="18" charset="0"/>
              </a:rPr>
              <a:t>Vienas žodis gali įgyti visai kitą emociją:</a:t>
            </a:r>
            <a:br>
              <a:rPr lang="lt-LT" sz="2200" dirty="0">
                <a:latin typeface="Times New Roman" panose="02020603050405020304" pitchFamily="18" charset="0"/>
                <a:cs typeface="Times New Roman" panose="02020603050405020304" pitchFamily="18" charset="0"/>
              </a:rPr>
            </a:br>
            <a:r>
              <a:rPr lang="lt-LT" sz="2200" i="1" dirty="0">
                <a:latin typeface="Times New Roman" panose="02020603050405020304" pitchFamily="18" charset="0"/>
                <a:cs typeface="Times New Roman" panose="02020603050405020304" pitchFamily="18" charset="0"/>
              </a:rPr>
              <a:t>„vaikas“ → „vaikiukas“ → „</a:t>
            </a:r>
            <a:r>
              <a:rPr lang="lt-LT" sz="2200" i="1" dirty="0" err="1">
                <a:latin typeface="Times New Roman" panose="02020603050405020304" pitchFamily="18" charset="0"/>
                <a:cs typeface="Times New Roman" panose="02020603050405020304" pitchFamily="18" charset="0"/>
              </a:rPr>
              <a:t>vaikeliukas</a:t>
            </a:r>
            <a:r>
              <a:rPr lang="lt-LT" sz="2200" i="1" dirty="0">
                <a:latin typeface="Times New Roman" panose="02020603050405020304" pitchFamily="18" charset="0"/>
                <a:cs typeface="Times New Roman" panose="02020603050405020304" pitchFamily="18" charset="0"/>
              </a:rPr>
              <a:t>“ → „</a:t>
            </a:r>
            <a:r>
              <a:rPr lang="lt-LT" sz="2200" i="1" dirty="0" err="1">
                <a:latin typeface="Times New Roman" panose="02020603050405020304" pitchFamily="18" charset="0"/>
                <a:cs typeface="Times New Roman" panose="02020603050405020304" pitchFamily="18" charset="0"/>
              </a:rPr>
              <a:t>vaikeliukėlis</a:t>
            </a:r>
            <a:r>
              <a:rPr lang="lt-LT" sz="2200" i="1" dirty="0">
                <a:latin typeface="Times New Roman" panose="02020603050405020304" pitchFamily="18" charset="0"/>
                <a:cs typeface="Times New Roman" panose="02020603050405020304" pitchFamily="18" charset="0"/>
              </a:rPr>
              <a:t>“.</a:t>
            </a:r>
            <a:br>
              <a:rPr lang="lt-LT" sz="2200" dirty="0">
                <a:latin typeface="Times New Roman" panose="02020603050405020304" pitchFamily="18" charset="0"/>
                <a:cs typeface="Times New Roman" panose="02020603050405020304" pitchFamily="18" charset="0"/>
              </a:rPr>
            </a:br>
            <a:r>
              <a:rPr lang="lt-LT" sz="2200" dirty="0">
                <a:latin typeface="Times New Roman" panose="02020603050405020304" pitchFamily="18" charset="0"/>
                <a:cs typeface="Times New Roman" panose="02020603050405020304" pitchFamily="18" charset="0"/>
              </a:rPr>
              <a:t>Tokios formos perteikia </a:t>
            </a:r>
            <a:r>
              <a:rPr lang="lt-LT" sz="2200" b="1" dirty="0">
                <a:latin typeface="Times New Roman" panose="02020603050405020304" pitchFamily="18" charset="0"/>
                <a:cs typeface="Times New Roman" panose="02020603050405020304" pitchFamily="18" charset="0"/>
              </a:rPr>
              <a:t>švelnumą, meilumą ar artumą</a:t>
            </a:r>
            <a:r>
              <a:rPr lang="lt-LT" sz="2200" dirty="0">
                <a:latin typeface="Times New Roman" panose="02020603050405020304" pitchFamily="18" charset="0"/>
                <a:cs typeface="Times New Roman" panose="02020603050405020304" pitchFamily="18" charset="0"/>
              </a:rPr>
              <a:t>, todėl kalba tampa gyvesnė.</a:t>
            </a:r>
            <a:br>
              <a:rPr lang="lt-LT" sz="2200" dirty="0">
                <a:latin typeface="Times New Roman" panose="02020603050405020304" pitchFamily="18" charset="0"/>
                <a:cs typeface="Times New Roman" panose="02020603050405020304" pitchFamily="18" charset="0"/>
              </a:rPr>
            </a:br>
            <a:endParaRPr lang="lt-LT" sz="2200" dirty="0">
              <a:latin typeface="Times New Roman" panose="02020603050405020304" pitchFamily="18" charset="0"/>
              <a:cs typeface="Times New Roman" panose="02020603050405020304" pitchFamily="18" charset="0"/>
            </a:endParaRPr>
          </a:p>
          <a:p>
            <a:pPr marL="45720" indent="0">
              <a:buNone/>
            </a:pPr>
            <a:r>
              <a:rPr lang="lt-LT" sz="2200" dirty="0">
                <a:latin typeface="Times New Roman" panose="02020603050405020304" pitchFamily="18" charset="0"/>
                <a:cs typeface="Times New Roman" panose="02020603050405020304" pitchFamily="18" charset="0"/>
              </a:rPr>
              <a:t>5️⃣ </a:t>
            </a:r>
            <a:r>
              <a:rPr lang="lt-LT" sz="2200" b="1" dirty="0">
                <a:latin typeface="Times New Roman" panose="02020603050405020304" pitchFamily="18" charset="0"/>
                <a:cs typeface="Times New Roman" panose="02020603050405020304" pitchFamily="18" charset="0"/>
              </a:rPr>
              <a:t>Veiksmažodiniai dalyviai – lietuviškas stiprybės ženklas</a:t>
            </a:r>
            <a:br>
              <a:rPr lang="lt-LT" sz="2200" dirty="0">
                <a:latin typeface="Times New Roman" panose="02020603050405020304" pitchFamily="18" charset="0"/>
                <a:cs typeface="Times New Roman" panose="02020603050405020304" pitchFamily="18" charset="0"/>
              </a:rPr>
            </a:br>
            <a:r>
              <a:rPr lang="lt-LT" sz="2200" dirty="0">
                <a:latin typeface="Times New Roman" panose="02020603050405020304" pitchFamily="18" charset="0"/>
                <a:cs typeface="Times New Roman" panose="02020603050405020304" pitchFamily="18" charset="0"/>
              </a:rPr>
              <a:t>Lietuvių kalba turi net </a:t>
            </a:r>
            <a:r>
              <a:rPr lang="lt-LT" sz="2200" b="1" dirty="0">
                <a:latin typeface="Times New Roman" panose="02020603050405020304" pitchFamily="18" charset="0"/>
                <a:cs typeface="Times New Roman" panose="02020603050405020304" pitchFamily="18" charset="0"/>
              </a:rPr>
              <a:t>keturias dalyvių rūšis</a:t>
            </a:r>
            <a:r>
              <a:rPr lang="lt-LT" sz="2200" dirty="0">
                <a:latin typeface="Times New Roman" panose="02020603050405020304" pitchFamily="18" charset="0"/>
                <a:cs typeface="Times New Roman" panose="02020603050405020304" pitchFamily="18" charset="0"/>
              </a:rPr>
              <a:t> (</a:t>
            </a:r>
            <a:r>
              <a:rPr lang="lt-LT" sz="2200" i="1" dirty="0">
                <a:latin typeface="Times New Roman" panose="02020603050405020304" pitchFamily="18" charset="0"/>
                <a:cs typeface="Times New Roman" panose="02020603050405020304" pitchFamily="18" charset="0"/>
              </a:rPr>
              <a:t>einantis, ėjęs, eisiantis, eidamas</a:t>
            </a:r>
            <a:r>
              <a:rPr lang="lt-LT" sz="2200" dirty="0">
                <a:latin typeface="Times New Roman" panose="02020603050405020304" pitchFamily="18" charset="0"/>
                <a:cs typeface="Times New Roman" panose="02020603050405020304" pitchFamily="18" charset="0"/>
              </a:rPr>
              <a:t>), kurios leidžia labai tiksliai nusakyti laiką ir veikėjo būseną. Jie kilo </a:t>
            </a:r>
            <a:r>
              <a:rPr lang="lt-LT" sz="2200" b="1" dirty="0">
                <a:latin typeface="Times New Roman" panose="02020603050405020304" pitchFamily="18" charset="0"/>
                <a:cs typeface="Times New Roman" panose="02020603050405020304" pitchFamily="18" charset="0"/>
              </a:rPr>
              <a:t>iš senųjų indoeuropiečių kalbų veiksmažodžių formų</a:t>
            </a:r>
            <a:r>
              <a:rPr lang="lt-LT" sz="2200" dirty="0">
                <a:latin typeface="Times New Roman" panose="02020603050405020304" pitchFamily="18" charset="0"/>
                <a:cs typeface="Times New Roman" panose="02020603050405020304" pitchFamily="18" charset="0"/>
              </a:rPr>
              <a:t>, kurios jungė </a:t>
            </a:r>
            <a:r>
              <a:rPr lang="lt-LT" sz="2200" b="1" dirty="0">
                <a:latin typeface="Times New Roman" panose="02020603050405020304" pitchFamily="18" charset="0"/>
                <a:cs typeface="Times New Roman" panose="02020603050405020304" pitchFamily="18" charset="0"/>
              </a:rPr>
              <a:t>veiksmą</a:t>
            </a:r>
            <a:r>
              <a:rPr lang="lt-LT" sz="2200" dirty="0">
                <a:latin typeface="Times New Roman" panose="02020603050405020304" pitchFamily="18" charset="0"/>
                <a:cs typeface="Times New Roman" panose="02020603050405020304" pitchFamily="18" charset="0"/>
              </a:rPr>
              <a:t> ir </a:t>
            </a:r>
            <a:r>
              <a:rPr lang="lt-LT" sz="2200" b="1" dirty="0">
                <a:latin typeface="Times New Roman" panose="02020603050405020304" pitchFamily="18" charset="0"/>
                <a:cs typeface="Times New Roman" panose="02020603050405020304" pitchFamily="18" charset="0"/>
              </a:rPr>
              <a:t>būsenos apibūdinimą</a:t>
            </a:r>
            <a:r>
              <a:rPr lang="lt-LT" sz="2200" dirty="0">
                <a:latin typeface="Times New Roman" panose="02020603050405020304" pitchFamily="18" charset="0"/>
                <a:cs typeface="Times New Roman" panose="02020603050405020304" pitchFamily="18" charset="0"/>
              </a:rPr>
              <a:t>.</a:t>
            </a:r>
            <a:br>
              <a:rPr lang="lt-LT" sz="2200" dirty="0">
                <a:latin typeface="Times New Roman" panose="02020603050405020304" pitchFamily="18" charset="0"/>
                <a:cs typeface="Times New Roman" panose="02020603050405020304" pitchFamily="18" charset="0"/>
              </a:rPr>
            </a:br>
            <a:r>
              <a:rPr lang="lt-LT" sz="2200" dirty="0">
                <a:latin typeface="Times New Roman" panose="02020603050405020304" pitchFamily="18" charset="0"/>
                <a:cs typeface="Times New Roman" panose="02020603050405020304" pitchFamily="18" charset="0"/>
              </a:rPr>
              <a:t>Tai reiškia, kad dar prieš kelis tūkstančius metų viena forma galėjo pasakyti ir </a:t>
            </a:r>
            <a:r>
              <a:rPr lang="lt-LT" sz="2200" i="1" dirty="0">
                <a:latin typeface="Times New Roman" panose="02020603050405020304" pitchFamily="18" charset="0"/>
                <a:cs typeface="Times New Roman" panose="02020603050405020304" pitchFamily="18" charset="0"/>
              </a:rPr>
              <a:t>kas daro</a:t>
            </a:r>
            <a:r>
              <a:rPr lang="lt-LT" sz="2200" dirty="0">
                <a:latin typeface="Times New Roman" panose="02020603050405020304" pitchFamily="18" charset="0"/>
                <a:cs typeface="Times New Roman" panose="02020603050405020304" pitchFamily="18" charset="0"/>
              </a:rPr>
              <a:t>, ir </a:t>
            </a:r>
            <a:r>
              <a:rPr lang="lt-LT" sz="2200" i="1" dirty="0">
                <a:latin typeface="Times New Roman" panose="02020603050405020304" pitchFamily="18" charset="0"/>
                <a:cs typeface="Times New Roman" panose="02020603050405020304" pitchFamily="18" charset="0"/>
              </a:rPr>
              <a:t>koks jis tuo metu yra</a:t>
            </a:r>
            <a:r>
              <a:rPr lang="lt-LT" sz="2200" dirty="0">
                <a:latin typeface="Times New Roman" panose="02020603050405020304" pitchFamily="18" charset="0"/>
                <a:cs typeface="Times New Roman" panose="02020603050405020304" pitchFamily="18" charset="0"/>
              </a:rPr>
              <a:t>. Senosiose kalbose (pvz., sanskrito, graikų, lotynų) jau buvo panašių formų, o lietuvių kalba </a:t>
            </a:r>
            <a:r>
              <a:rPr lang="lt-LT" sz="2200" b="1" dirty="0">
                <a:latin typeface="Times New Roman" panose="02020603050405020304" pitchFamily="18" charset="0"/>
                <a:cs typeface="Times New Roman" panose="02020603050405020304" pitchFamily="18" charset="0"/>
              </a:rPr>
              <a:t>jas išsaugojo beveik nepakitusias</a:t>
            </a:r>
            <a:r>
              <a:rPr lang="lt-LT" sz="2200" dirty="0">
                <a:latin typeface="Times New Roman" panose="02020603050405020304" pitchFamily="18" charset="0"/>
                <a:cs typeface="Times New Roman" panose="02020603050405020304" pitchFamily="18" charset="0"/>
              </a:rPr>
              <a:t>. Todėl lietuvių dalyviai – vieni </a:t>
            </a:r>
            <a:r>
              <a:rPr lang="lt-LT" sz="2200" dirty="0" err="1">
                <a:latin typeface="Times New Roman" panose="02020603050405020304" pitchFamily="18" charset="0"/>
                <a:cs typeface="Times New Roman" panose="02020603050405020304" pitchFamily="18" charset="0"/>
              </a:rPr>
              <a:t>archajiškiausių</a:t>
            </a:r>
            <a:r>
              <a:rPr lang="lt-LT" sz="2200" dirty="0">
                <a:latin typeface="Times New Roman" panose="02020603050405020304" pitchFamily="18" charset="0"/>
                <a:cs typeface="Times New Roman" panose="02020603050405020304" pitchFamily="18" charset="0"/>
              </a:rPr>
              <a:t> visoje Europoje!</a:t>
            </a:r>
          </a:p>
          <a:p>
            <a:pPr marL="45720" indent="0">
              <a:buNone/>
            </a:pPr>
            <a:endParaRPr lang="lt-LT" dirty="0"/>
          </a:p>
          <a:p>
            <a:endParaRPr lang="lt-LT" dirty="0"/>
          </a:p>
        </p:txBody>
      </p:sp>
      <p:sp>
        <p:nvSpPr>
          <p:cNvPr id="3" name="Title 2">
            <a:extLst>
              <a:ext uri="{FF2B5EF4-FFF2-40B4-BE49-F238E27FC236}">
                <a16:creationId xmlns:a16="http://schemas.microsoft.com/office/drawing/2014/main" id="{C93257A0-714D-B0A3-DA28-6590B9848F5C}"/>
              </a:ext>
            </a:extLst>
          </p:cNvPr>
          <p:cNvSpPr>
            <a:spLocks noGrp="1"/>
          </p:cNvSpPr>
          <p:nvPr>
            <p:ph type="title"/>
          </p:nvPr>
        </p:nvSpPr>
        <p:spPr/>
        <p:txBody>
          <a:bodyPr/>
          <a:lstStyle/>
          <a:p>
            <a:r>
              <a:rPr lang="lt-LT" b="1" dirty="0"/>
              <a:t>Unikalios lietuvių kalbos gramatinės formos</a:t>
            </a:r>
            <a:br>
              <a:rPr lang="lt-LT" b="1" dirty="0"/>
            </a:br>
            <a:endParaRPr lang="lt-LT" dirty="0"/>
          </a:p>
        </p:txBody>
      </p:sp>
    </p:spTree>
    <p:extLst>
      <p:ext uri="{BB962C8B-B14F-4D97-AF65-F5344CB8AC3E}">
        <p14:creationId xmlns:p14="http://schemas.microsoft.com/office/powerpoint/2010/main" val="302522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B9BEF1-66E0-437C-E947-D12F7BB44EF7}"/>
              </a:ext>
            </a:extLst>
          </p:cNvPr>
          <p:cNvSpPr>
            <a:spLocks noGrp="1"/>
          </p:cNvSpPr>
          <p:nvPr>
            <p:ph idx="1"/>
          </p:nvPr>
        </p:nvSpPr>
        <p:spPr/>
        <p:txBody>
          <a:bodyPr>
            <a:normAutofit fontScale="92500"/>
          </a:bodyPr>
          <a:lstStyle/>
          <a:p>
            <a:pPr marL="45720" indent="0">
              <a:buNone/>
            </a:pPr>
            <a:r>
              <a:rPr lang="lt-LT" sz="1900" dirty="0">
                <a:latin typeface="Times New Roman" panose="02020603050405020304" pitchFamily="18" charset="0"/>
                <a:cs typeface="Times New Roman" panose="02020603050405020304" pitchFamily="18" charset="0"/>
              </a:rPr>
              <a:t>Lietuvių kalba – viena seniausių ir turtingiausių pasaulyje.</a:t>
            </a:r>
            <a:br>
              <a:rPr lang="lt-LT" sz="1900" dirty="0">
                <a:latin typeface="Times New Roman" panose="02020603050405020304" pitchFamily="18" charset="0"/>
                <a:cs typeface="Times New Roman" panose="02020603050405020304" pitchFamily="18" charset="0"/>
              </a:rPr>
            </a:br>
            <a:r>
              <a:rPr lang="lt-LT" sz="1900" dirty="0">
                <a:latin typeface="Times New Roman" panose="02020603050405020304" pitchFamily="18" charset="0"/>
                <a:cs typeface="Times New Roman" panose="02020603050405020304" pitchFamily="18" charset="0"/>
              </a:rPr>
              <a:t>Vienas žodis gali turėti </a:t>
            </a:r>
            <a:r>
              <a:rPr lang="lt-LT" sz="1900" b="1" dirty="0">
                <a:latin typeface="Times New Roman" panose="02020603050405020304" pitchFamily="18" charset="0"/>
                <a:cs typeface="Times New Roman" panose="02020603050405020304" pitchFamily="18" charset="0"/>
              </a:rPr>
              <a:t>dešimtis sinonimų</a:t>
            </a:r>
            <a:r>
              <a:rPr lang="lt-LT" sz="1900" dirty="0">
                <a:latin typeface="Times New Roman" panose="02020603050405020304" pitchFamily="18" charset="0"/>
                <a:cs typeface="Times New Roman" panose="02020603050405020304" pitchFamily="18" charset="0"/>
              </a:rPr>
              <a:t>, kurie leidžia kalbėti </a:t>
            </a:r>
            <a:r>
              <a:rPr lang="lt-LT" sz="1900" b="1" dirty="0">
                <a:latin typeface="Times New Roman" panose="02020603050405020304" pitchFamily="18" charset="0"/>
                <a:cs typeface="Times New Roman" panose="02020603050405020304" pitchFamily="18" charset="0"/>
              </a:rPr>
              <a:t>tiksliau, vaizdingiau ir gyviau</a:t>
            </a:r>
            <a:r>
              <a:rPr lang="lt-LT" sz="1900" dirty="0">
                <a:latin typeface="Times New Roman" panose="02020603050405020304" pitchFamily="18" charset="0"/>
                <a:cs typeface="Times New Roman" panose="02020603050405020304" pitchFamily="18" charset="0"/>
              </a:rPr>
              <a:t>.</a:t>
            </a:r>
            <a:br>
              <a:rPr lang="lt-LT" sz="1900" dirty="0">
                <a:latin typeface="Times New Roman" panose="02020603050405020304" pitchFamily="18" charset="0"/>
                <a:cs typeface="Times New Roman" panose="02020603050405020304" pitchFamily="18" charset="0"/>
              </a:rPr>
            </a:br>
            <a:r>
              <a:rPr lang="lt-LT" sz="1900" dirty="0">
                <a:latin typeface="Times New Roman" panose="02020603050405020304" pitchFamily="18" charset="0"/>
                <a:cs typeface="Times New Roman" panose="02020603050405020304" pitchFamily="18" charset="0"/>
              </a:rPr>
              <a:t>Pavyzdžiui, mes galime sakyti ne tik </a:t>
            </a:r>
            <a:r>
              <a:rPr lang="lt-LT" sz="1900" i="1" dirty="0">
                <a:latin typeface="Times New Roman" panose="02020603050405020304" pitchFamily="18" charset="0"/>
                <a:cs typeface="Times New Roman" panose="02020603050405020304" pitchFamily="18" charset="0"/>
              </a:rPr>
              <a:t>„lyja“</a:t>
            </a:r>
            <a:r>
              <a:rPr lang="lt-LT" sz="1900" dirty="0">
                <a:latin typeface="Times New Roman" panose="02020603050405020304" pitchFamily="18" charset="0"/>
                <a:cs typeface="Times New Roman" panose="02020603050405020304" pitchFamily="18" charset="0"/>
              </a:rPr>
              <a:t> ar </a:t>
            </a:r>
            <a:r>
              <a:rPr lang="lt-LT" sz="1900" i="1" dirty="0">
                <a:latin typeface="Times New Roman" panose="02020603050405020304" pitchFamily="18" charset="0"/>
                <a:cs typeface="Times New Roman" panose="02020603050405020304" pitchFamily="18" charset="0"/>
              </a:rPr>
              <a:t>„sninga“</a:t>
            </a:r>
            <a:r>
              <a:rPr lang="lt-LT" sz="1900" dirty="0">
                <a:latin typeface="Times New Roman" panose="02020603050405020304" pitchFamily="18" charset="0"/>
                <a:cs typeface="Times New Roman" panose="02020603050405020304" pitchFamily="18" charset="0"/>
              </a:rPr>
              <a:t>, bet ir pasirinkti žodžius, kurie </a:t>
            </a:r>
            <a:r>
              <a:rPr lang="lt-LT" sz="1900" b="1" dirty="0">
                <a:latin typeface="Times New Roman" panose="02020603050405020304" pitchFamily="18" charset="0"/>
                <a:cs typeface="Times New Roman" panose="02020603050405020304" pitchFamily="18" charset="0"/>
              </a:rPr>
              <a:t>atspindi nuotaiką, laiką ar jausmą</a:t>
            </a:r>
            <a:r>
              <a:rPr lang="lt-LT" sz="1900" dirty="0">
                <a:latin typeface="Times New Roman" panose="02020603050405020304" pitchFamily="18" charset="0"/>
                <a:cs typeface="Times New Roman" panose="02020603050405020304" pitchFamily="18" charset="0"/>
              </a:rPr>
              <a:t> – </a:t>
            </a:r>
            <a:r>
              <a:rPr lang="lt-LT" sz="1900" i="1" dirty="0">
                <a:latin typeface="Times New Roman" panose="02020603050405020304" pitchFamily="18" charset="0"/>
                <a:cs typeface="Times New Roman" panose="02020603050405020304" pitchFamily="18" charset="0"/>
              </a:rPr>
              <a:t>„pliaupia“, „snyguriuoja“, „drebia“, „birsnoja“</a:t>
            </a:r>
            <a:r>
              <a:rPr lang="lt-LT" sz="1900" dirty="0">
                <a:latin typeface="Times New Roman" panose="02020603050405020304" pitchFamily="18" charset="0"/>
                <a:cs typeface="Times New Roman" panose="02020603050405020304" pitchFamily="18" charset="0"/>
              </a:rPr>
              <a:t>.</a:t>
            </a:r>
          </a:p>
          <a:p>
            <a:pPr marL="45720" indent="0">
              <a:buNone/>
            </a:pPr>
            <a:r>
              <a:rPr lang="lt-LT" sz="1900" dirty="0">
                <a:latin typeface="Times New Roman" panose="02020603050405020304" pitchFamily="18" charset="0"/>
                <a:cs typeface="Times New Roman" panose="02020603050405020304" pitchFamily="18" charset="0"/>
              </a:rPr>
              <a:t>Sinonimai padeda ne tik </a:t>
            </a:r>
            <a:r>
              <a:rPr lang="lt-LT" sz="1900" b="1" dirty="0">
                <a:latin typeface="Times New Roman" panose="02020603050405020304" pitchFamily="18" charset="0"/>
                <a:cs typeface="Times New Roman" panose="02020603050405020304" pitchFamily="18" charset="0"/>
              </a:rPr>
              <a:t>gražiau kalbėti</a:t>
            </a:r>
            <a:r>
              <a:rPr lang="lt-LT" sz="1900" dirty="0">
                <a:latin typeface="Times New Roman" panose="02020603050405020304" pitchFamily="18" charset="0"/>
                <a:cs typeface="Times New Roman" panose="02020603050405020304" pitchFamily="18" charset="0"/>
              </a:rPr>
              <a:t>, bet ir </a:t>
            </a:r>
            <a:r>
              <a:rPr lang="lt-LT" sz="1900" b="1" dirty="0">
                <a:latin typeface="Times New Roman" panose="02020603050405020304" pitchFamily="18" charset="0"/>
                <a:cs typeface="Times New Roman" panose="02020603050405020304" pitchFamily="18" charset="0"/>
              </a:rPr>
              <a:t>geriau jausti kalbos melodiją</a:t>
            </a:r>
            <a:r>
              <a:rPr lang="lt-LT" sz="1900" dirty="0">
                <a:latin typeface="Times New Roman" panose="02020603050405020304" pitchFamily="18" charset="0"/>
                <a:cs typeface="Times New Roman" panose="02020603050405020304" pitchFamily="18" charset="0"/>
              </a:rPr>
              <a:t>, </a:t>
            </a:r>
            <a:r>
              <a:rPr lang="lt-LT" sz="1900" b="1" dirty="0">
                <a:latin typeface="Times New Roman" panose="02020603050405020304" pitchFamily="18" charset="0"/>
                <a:cs typeface="Times New Roman" panose="02020603050405020304" pitchFamily="18" charset="0"/>
              </a:rPr>
              <a:t>kurti vaizdus</a:t>
            </a:r>
            <a:r>
              <a:rPr lang="lt-LT" sz="1900" dirty="0">
                <a:latin typeface="Times New Roman" panose="02020603050405020304" pitchFamily="18" charset="0"/>
                <a:cs typeface="Times New Roman" panose="02020603050405020304" pitchFamily="18" charset="0"/>
              </a:rPr>
              <a:t> ir </a:t>
            </a:r>
            <a:r>
              <a:rPr lang="lt-LT" sz="1900" b="1" dirty="0">
                <a:latin typeface="Times New Roman" panose="02020603050405020304" pitchFamily="18" charset="0"/>
                <a:cs typeface="Times New Roman" panose="02020603050405020304" pitchFamily="18" charset="0"/>
              </a:rPr>
              <a:t>išreikšti emocijas</a:t>
            </a:r>
            <a:r>
              <a:rPr lang="lt-LT" sz="1900" dirty="0">
                <a:latin typeface="Times New Roman" panose="02020603050405020304" pitchFamily="18" charset="0"/>
                <a:cs typeface="Times New Roman" panose="02020603050405020304" pitchFamily="18" charset="0"/>
              </a:rPr>
              <a:t>.</a:t>
            </a:r>
            <a:br>
              <a:rPr lang="lt-LT" sz="1900" dirty="0">
                <a:latin typeface="Times New Roman" panose="02020603050405020304" pitchFamily="18" charset="0"/>
                <a:cs typeface="Times New Roman" panose="02020603050405020304" pitchFamily="18" charset="0"/>
              </a:rPr>
            </a:br>
            <a:r>
              <a:rPr lang="lt-LT" sz="1900" dirty="0">
                <a:latin typeface="Times New Roman" panose="02020603050405020304" pitchFamily="18" charset="0"/>
                <a:cs typeface="Times New Roman" panose="02020603050405020304" pitchFamily="18" charset="0"/>
              </a:rPr>
              <a:t>Tai tarsi spalvų paletė – kuo daugiau atspalvių, tuo įvairesnis piešinys. </a:t>
            </a:r>
          </a:p>
          <a:p>
            <a:pPr marL="45720" indent="0">
              <a:buNone/>
            </a:pPr>
            <a:r>
              <a:rPr lang="lt-LT" sz="1900" b="1" dirty="0">
                <a:latin typeface="Times New Roman" panose="02020603050405020304" pitchFamily="18" charset="0"/>
                <a:cs typeface="Times New Roman" panose="02020603050405020304" pitchFamily="18" charset="0"/>
              </a:rPr>
              <a:t> Užduotis:</a:t>
            </a:r>
          </a:p>
          <a:p>
            <a:pPr marL="45720" indent="0">
              <a:buNone/>
            </a:pPr>
            <a:r>
              <a:rPr lang="lt-LT" sz="1900" dirty="0">
                <a:latin typeface="Times New Roman" panose="02020603050405020304" pitchFamily="18" charset="0"/>
                <a:cs typeface="Times New Roman" panose="02020603050405020304" pitchFamily="18" charset="0"/>
              </a:rPr>
              <a:t>1️⃣ Pasirinkite vieną veiksmažodį, pavyzdžiui: </a:t>
            </a:r>
            <a:r>
              <a:rPr lang="lt-LT" sz="1900" i="1" dirty="0">
                <a:latin typeface="Times New Roman" panose="02020603050405020304" pitchFamily="18" charset="0"/>
                <a:cs typeface="Times New Roman" panose="02020603050405020304" pitchFamily="18" charset="0"/>
              </a:rPr>
              <a:t>eiti, kalbėti, žiūrėti, valgyti.</a:t>
            </a:r>
            <a:br>
              <a:rPr lang="lt-LT" sz="1900" dirty="0">
                <a:latin typeface="Times New Roman" panose="02020603050405020304" pitchFamily="18" charset="0"/>
                <a:cs typeface="Times New Roman" panose="02020603050405020304" pitchFamily="18" charset="0"/>
              </a:rPr>
            </a:br>
            <a:r>
              <a:rPr lang="lt-LT" sz="1900" dirty="0">
                <a:latin typeface="Times New Roman" panose="02020603050405020304" pitchFamily="18" charset="0"/>
                <a:cs typeface="Times New Roman" panose="02020603050405020304" pitchFamily="18" charset="0"/>
              </a:rPr>
              <a:t>2️⃣ Parašykite </a:t>
            </a:r>
            <a:r>
              <a:rPr lang="lt-LT" sz="1900" b="1" dirty="0">
                <a:latin typeface="Times New Roman" panose="02020603050405020304" pitchFamily="18" charset="0"/>
                <a:cs typeface="Times New Roman" panose="02020603050405020304" pitchFamily="18" charset="0"/>
              </a:rPr>
              <a:t>bent 5 jo sinonimus</a:t>
            </a:r>
            <a:r>
              <a:rPr lang="lt-LT" sz="1900" dirty="0">
                <a:latin typeface="Times New Roman" panose="02020603050405020304" pitchFamily="18" charset="0"/>
                <a:cs typeface="Times New Roman" panose="02020603050405020304" pitchFamily="18" charset="0"/>
              </a:rPr>
              <a:t>.</a:t>
            </a:r>
            <a:br>
              <a:rPr lang="lt-LT" sz="1900" dirty="0">
                <a:latin typeface="Times New Roman" panose="02020603050405020304" pitchFamily="18" charset="0"/>
                <a:cs typeface="Times New Roman" panose="02020603050405020304" pitchFamily="18" charset="0"/>
              </a:rPr>
            </a:br>
            <a:r>
              <a:rPr lang="lt-LT" sz="1900" dirty="0">
                <a:latin typeface="Times New Roman" panose="02020603050405020304" pitchFamily="18" charset="0"/>
                <a:cs typeface="Times New Roman" panose="02020603050405020304" pitchFamily="18" charset="0"/>
              </a:rPr>
              <a:t>3️⃣ Kuris iš jų, jūsų manymu, </a:t>
            </a:r>
            <a:r>
              <a:rPr lang="lt-LT" sz="1900" b="1" dirty="0">
                <a:latin typeface="Times New Roman" panose="02020603050405020304" pitchFamily="18" charset="0"/>
                <a:cs typeface="Times New Roman" panose="02020603050405020304" pitchFamily="18" charset="0"/>
              </a:rPr>
              <a:t>skamba gražiausiai ar vaizdingiausiai</a:t>
            </a:r>
            <a:r>
              <a:rPr lang="lt-LT" sz="1900" dirty="0">
                <a:latin typeface="Times New Roman" panose="02020603050405020304" pitchFamily="18" charset="0"/>
                <a:cs typeface="Times New Roman" panose="02020603050405020304" pitchFamily="18" charset="0"/>
              </a:rPr>
              <a:t>? Kodėl?</a:t>
            </a:r>
          </a:p>
          <a:p>
            <a:endParaRPr lang="lt-LT" dirty="0"/>
          </a:p>
        </p:txBody>
      </p:sp>
      <p:sp>
        <p:nvSpPr>
          <p:cNvPr id="3" name="Title 2">
            <a:extLst>
              <a:ext uri="{FF2B5EF4-FFF2-40B4-BE49-F238E27FC236}">
                <a16:creationId xmlns:a16="http://schemas.microsoft.com/office/drawing/2014/main" id="{6F25210B-95F5-F322-831D-E13821F36854}"/>
              </a:ext>
            </a:extLst>
          </p:cNvPr>
          <p:cNvSpPr>
            <a:spLocks noGrp="1"/>
          </p:cNvSpPr>
          <p:nvPr>
            <p:ph type="title"/>
          </p:nvPr>
        </p:nvSpPr>
        <p:spPr/>
        <p:txBody>
          <a:bodyPr/>
          <a:lstStyle/>
          <a:p>
            <a:r>
              <a:rPr lang="lt-LT" b="1" dirty="0"/>
              <a:t>Lietuvių kalbos žodžių lobynas</a:t>
            </a:r>
            <a:br>
              <a:rPr lang="lt-LT" b="1" dirty="0"/>
            </a:br>
            <a:endParaRPr lang="lt-LT" dirty="0"/>
          </a:p>
        </p:txBody>
      </p:sp>
    </p:spTree>
    <p:extLst>
      <p:ext uri="{BB962C8B-B14F-4D97-AF65-F5344CB8AC3E}">
        <p14:creationId xmlns:p14="http://schemas.microsoft.com/office/powerpoint/2010/main" val="1194690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F046D1-F84E-FBB4-3F38-192172272728}"/>
              </a:ext>
            </a:extLst>
          </p:cNvPr>
          <p:cNvSpPr>
            <a:spLocks noGrp="1"/>
          </p:cNvSpPr>
          <p:nvPr>
            <p:ph idx="1"/>
          </p:nvPr>
        </p:nvSpPr>
        <p:spPr/>
        <p:txBody>
          <a:bodyPr>
            <a:normAutofit fontScale="92500" lnSpcReduction="20000"/>
          </a:bodyPr>
          <a:lstStyle/>
          <a:p>
            <a:pPr marL="45720" indent="0">
              <a:buNone/>
            </a:pPr>
            <a:r>
              <a:rPr lang="lt-LT" dirty="0">
                <a:latin typeface="Times New Roman" panose="02020603050405020304" pitchFamily="18" charset="0"/>
                <a:cs typeface="Times New Roman" panose="02020603050405020304" pitchFamily="18" charset="0"/>
              </a:rPr>
              <a:t>🔹 Ši vasara stebino įvairiais lietaus pavidalais – kartais tyliai dulksnoja, o kartais pila kaip iš kibiro. Lietuvių kalboje netrūksta žodžių, kuriais galime tiksliau apibūdinti, </a:t>
            </a:r>
            <a:r>
              <a:rPr lang="lt-LT" b="1" dirty="0">
                <a:latin typeface="Times New Roman" panose="02020603050405020304" pitchFamily="18" charset="0"/>
                <a:cs typeface="Times New Roman" panose="02020603050405020304" pitchFamily="18" charset="0"/>
              </a:rPr>
              <a:t>kaip lyja</a:t>
            </a:r>
            <a:r>
              <a:rPr lang="lt-LT" dirty="0">
                <a:latin typeface="Times New Roman" panose="02020603050405020304" pitchFamily="18" charset="0"/>
                <a:cs typeface="Times New Roman" panose="02020603050405020304" pitchFamily="18" charset="0"/>
              </a:rPr>
              <a:t>. Veiksmažodis </a:t>
            </a:r>
            <a:r>
              <a:rPr lang="lt-LT" i="1" dirty="0">
                <a:latin typeface="Times New Roman" panose="02020603050405020304" pitchFamily="18" charset="0"/>
                <a:cs typeface="Times New Roman" panose="02020603050405020304" pitchFamily="18" charset="0"/>
              </a:rPr>
              <a:t>„lyti“</a:t>
            </a:r>
            <a:r>
              <a:rPr lang="lt-LT" dirty="0">
                <a:latin typeface="Times New Roman" panose="02020603050405020304" pitchFamily="18" charset="0"/>
                <a:cs typeface="Times New Roman" panose="02020603050405020304" pitchFamily="18" charset="0"/>
              </a:rPr>
              <a:t> turi daug įdomių sinonimų, nusakančių lietaus stiprumą, pobūdį ar nuotaiką.</a:t>
            </a:r>
          </a:p>
          <a:p>
            <a:pPr marL="45720" indent="0">
              <a:buNone/>
            </a:pPr>
            <a:r>
              <a:rPr lang="lt-LT" dirty="0">
                <a:latin typeface="Times New Roman" panose="02020603050405020304" pitchFamily="18" charset="0"/>
                <a:cs typeface="Times New Roman" panose="02020603050405020304" pitchFamily="18" charset="0"/>
              </a:rPr>
              <a:t>🔹 Štai keli iš jų:</a:t>
            </a:r>
            <a:br>
              <a:rPr lang="lt-LT" dirty="0">
                <a:latin typeface="Times New Roman" panose="02020603050405020304" pitchFamily="18" charset="0"/>
                <a:cs typeface="Times New Roman" panose="02020603050405020304" pitchFamily="18" charset="0"/>
              </a:rPr>
            </a:br>
            <a:r>
              <a:rPr lang="lt-LT" i="1" dirty="0">
                <a:latin typeface="Times New Roman" panose="02020603050405020304" pitchFamily="18" charset="0"/>
                <a:cs typeface="Times New Roman" panose="02020603050405020304" pitchFamily="18" charset="0"/>
              </a:rPr>
              <a:t>„dulksnoti“</a:t>
            </a:r>
            <a:r>
              <a:rPr lang="lt-LT" dirty="0">
                <a:latin typeface="Times New Roman" panose="02020603050405020304" pitchFamily="18" charset="0"/>
                <a:cs typeface="Times New Roman" panose="02020603050405020304" pitchFamily="18" charset="0"/>
              </a:rPr>
              <a:t> (lyti silpnai, smulkiai),</a:t>
            </a:r>
            <a:br>
              <a:rPr lang="lt-LT" dirty="0">
                <a:latin typeface="Times New Roman" panose="02020603050405020304" pitchFamily="18" charset="0"/>
                <a:cs typeface="Times New Roman" panose="02020603050405020304" pitchFamily="18" charset="0"/>
              </a:rPr>
            </a:br>
            <a:r>
              <a:rPr lang="lt-LT" i="1" dirty="0">
                <a:latin typeface="Times New Roman" panose="02020603050405020304" pitchFamily="18" charset="0"/>
                <a:cs typeface="Times New Roman" panose="02020603050405020304" pitchFamily="18" charset="0"/>
              </a:rPr>
              <a:t>„dulkėti“</a:t>
            </a:r>
            <a:r>
              <a:rPr lang="lt-LT" dirty="0">
                <a:latin typeface="Times New Roman" panose="02020603050405020304" pitchFamily="18" charset="0"/>
                <a:cs typeface="Times New Roman" panose="02020603050405020304" pitchFamily="18" charset="0"/>
              </a:rPr>
              <a:t>,</a:t>
            </a:r>
            <a:br>
              <a:rPr lang="lt-LT" dirty="0">
                <a:latin typeface="Times New Roman" panose="02020603050405020304" pitchFamily="18" charset="0"/>
                <a:cs typeface="Times New Roman" panose="02020603050405020304" pitchFamily="18" charset="0"/>
              </a:rPr>
            </a:br>
            <a:r>
              <a:rPr lang="lt-LT" i="1" dirty="0">
                <a:latin typeface="Times New Roman" panose="02020603050405020304" pitchFamily="18" charset="0"/>
                <a:cs typeface="Times New Roman" panose="02020603050405020304" pitchFamily="18" charset="0"/>
              </a:rPr>
              <a:t>„</a:t>
            </a:r>
            <a:r>
              <a:rPr lang="lt-LT" i="1" dirty="0" err="1">
                <a:latin typeface="Times New Roman" panose="02020603050405020304" pitchFamily="18" charset="0"/>
                <a:cs typeface="Times New Roman" panose="02020603050405020304" pitchFamily="18" charset="0"/>
              </a:rPr>
              <a:t>merksti</a:t>
            </a:r>
            <a:r>
              <a:rPr lang="lt-LT" i="1" dirty="0">
                <a:latin typeface="Times New Roman" panose="02020603050405020304" pitchFamily="18" charset="0"/>
                <a:cs typeface="Times New Roman" panose="02020603050405020304" pitchFamily="18" charset="0"/>
              </a:rPr>
              <a:t>“</a:t>
            </a:r>
            <a:r>
              <a:rPr lang="lt-LT" dirty="0">
                <a:latin typeface="Times New Roman" panose="02020603050405020304" pitchFamily="18" charset="0"/>
                <a:cs typeface="Times New Roman" panose="02020603050405020304" pitchFamily="18" charset="0"/>
              </a:rPr>
              <a:t> (gausiai, bet tyliai lyti),</a:t>
            </a:r>
            <a:br>
              <a:rPr lang="lt-LT" dirty="0">
                <a:latin typeface="Times New Roman" panose="02020603050405020304" pitchFamily="18" charset="0"/>
                <a:cs typeface="Times New Roman" panose="02020603050405020304" pitchFamily="18" charset="0"/>
              </a:rPr>
            </a:br>
            <a:r>
              <a:rPr lang="lt-LT" i="1" dirty="0">
                <a:latin typeface="Times New Roman" panose="02020603050405020304" pitchFamily="18" charset="0"/>
                <a:cs typeface="Times New Roman" panose="02020603050405020304" pitchFamily="18" charset="0"/>
              </a:rPr>
              <a:t>„pliaupti“</a:t>
            </a:r>
            <a:r>
              <a:rPr lang="lt-LT" dirty="0">
                <a:latin typeface="Times New Roman" panose="02020603050405020304" pitchFamily="18" charset="0"/>
                <a:cs typeface="Times New Roman" panose="02020603050405020304" pitchFamily="18" charset="0"/>
              </a:rPr>
              <a:t> (stipriai, smarkiai),</a:t>
            </a:r>
            <a:br>
              <a:rPr lang="lt-LT" dirty="0">
                <a:latin typeface="Times New Roman" panose="02020603050405020304" pitchFamily="18" charset="0"/>
                <a:cs typeface="Times New Roman" panose="02020603050405020304" pitchFamily="18" charset="0"/>
              </a:rPr>
            </a:br>
            <a:r>
              <a:rPr lang="lt-LT" i="1" dirty="0">
                <a:latin typeface="Times New Roman" panose="02020603050405020304" pitchFamily="18" charset="0"/>
                <a:cs typeface="Times New Roman" panose="02020603050405020304" pitchFamily="18" charset="0"/>
              </a:rPr>
              <a:t>„pilti“</a:t>
            </a:r>
            <a:r>
              <a:rPr lang="lt-LT" dirty="0">
                <a:latin typeface="Times New Roman" panose="02020603050405020304" pitchFamily="18" charset="0"/>
                <a:cs typeface="Times New Roman" panose="02020603050405020304" pitchFamily="18" charset="0"/>
              </a:rPr>
              <a:t> (gausiai),</a:t>
            </a:r>
            <a:br>
              <a:rPr lang="lt-LT" dirty="0">
                <a:latin typeface="Times New Roman" panose="02020603050405020304" pitchFamily="18" charset="0"/>
                <a:cs typeface="Times New Roman" panose="02020603050405020304" pitchFamily="18" charset="0"/>
              </a:rPr>
            </a:br>
            <a:r>
              <a:rPr lang="lt-LT" i="1" dirty="0">
                <a:latin typeface="Times New Roman" panose="02020603050405020304" pitchFamily="18" charset="0"/>
                <a:cs typeface="Times New Roman" panose="02020603050405020304" pitchFamily="18" charset="0"/>
              </a:rPr>
              <a:t>„lieti“</a:t>
            </a:r>
            <a:r>
              <a:rPr lang="lt-LT" dirty="0">
                <a:latin typeface="Times New Roman" panose="02020603050405020304" pitchFamily="18" charset="0"/>
                <a:cs typeface="Times New Roman" panose="02020603050405020304" pitchFamily="18" charset="0"/>
              </a:rPr>
              <a:t>,</a:t>
            </a:r>
            <a:br>
              <a:rPr lang="lt-LT" dirty="0">
                <a:latin typeface="Times New Roman" panose="02020603050405020304" pitchFamily="18" charset="0"/>
                <a:cs typeface="Times New Roman" panose="02020603050405020304" pitchFamily="18" charset="0"/>
              </a:rPr>
            </a:br>
            <a:r>
              <a:rPr lang="lt-LT" i="1" dirty="0">
                <a:latin typeface="Times New Roman" panose="02020603050405020304" pitchFamily="18" charset="0"/>
                <a:cs typeface="Times New Roman" panose="02020603050405020304" pitchFamily="18" charset="0"/>
              </a:rPr>
              <a:t>„</a:t>
            </a:r>
            <a:r>
              <a:rPr lang="lt-LT" i="1" dirty="0" err="1">
                <a:latin typeface="Times New Roman" panose="02020603050405020304" pitchFamily="18" charset="0"/>
                <a:cs typeface="Times New Roman" panose="02020603050405020304" pitchFamily="18" charset="0"/>
              </a:rPr>
              <a:t>čirkšnoti</a:t>
            </a:r>
            <a:r>
              <a:rPr lang="lt-LT" i="1" dirty="0">
                <a:latin typeface="Times New Roman" panose="02020603050405020304" pitchFamily="18" charset="0"/>
                <a:cs typeface="Times New Roman" panose="02020603050405020304" pitchFamily="18" charset="0"/>
              </a:rPr>
              <a:t>“</a:t>
            </a:r>
            <a:r>
              <a:rPr lang="lt-LT" dirty="0">
                <a:latin typeface="Times New Roman" panose="02020603050405020304" pitchFamily="18" charset="0"/>
                <a:cs typeface="Times New Roman" panose="02020603050405020304" pitchFamily="18" charset="0"/>
              </a:rPr>
              <a:t>,</a:t>
            </a:r>
            <a:br>
              <a:rPr lang="lt-LT" dirty="0">
                <a:latin typeface="Times New Roman" panose="02020603050405020304" pitchFamily="18" charset="0"/>
                <a:cs typeface="Times New Roman" panose="02020603050405020304" pitchFamily="18" charset="0"/>
              </a:rPr>
            </a:br>
            <a:r>
              <a:rPr lang="lt-LT" i="1" dirty="0">
                <a:latin typeface="Times New Roman" panose="02020603050405020304" pitchFamily="18" charset="0"/>
                <a:cs typeface="Times New Roman" panose="02020603050405020304" pitchFamily="18" charset="0"/>
              </a:rPr>
              <a:t>„drėbti“</a:t>
            </a:r>
            <a:r>
              <a:rPr lang="lt-LT" dirty="0">
                <a:latin typeface="Times New Roman" panose="02020603050405020304" pitchFamily="18" charset="0"/>
                <a:cs typeface="Times New Roman" panose="02020603050405020304" pitchFamily="18" charset="0"/>
              </a:rPr>
              <a:t> (lyg kibirais),</a:t>
            </a:r>
            <a:br>
              <a:rPr lang="lt-LT" dirty="0">
                <a:latin typeface="Times New Roman" panose="02020603050405020304" pitchFamily="18" charset="0"/>
                <a:cs typeface="Times New Roman" panose="02020603050405020304" pitchFamily="18" charset="0"/>
              </a:rPr>
            </a:br>
            <a:r>
              <a:rPr lang="lt-LT" i="1" dirty="0">
                <a:latin typeface="Times New Roman" panose="02020603050405020304" pitchFamily="18" charset="0"/>
                <a:cs typeface="Times New Roman" panose="02020603050405020304" pitchFamily="18" charset="0"/>
              </a:rPr>
              <a:t>„lynoti“</a:t>
            </a:r>
            <a:r>
              <a:rPr lang="lt-LT" dirty="0">
                <a:latin typeface="Times New Roman" panose="02020603050405020304" pitchFamily="18" charset="0"/>
                <a:cs typeface="Times New Roman" panose="02020603050405020304" pitchFamily="18" charset="0"/>
              </a:rPr>
              <a:t> (silpnai lyti),</a:t>
            </a:r>
            <a:br>
              <a:rPr lang="lt-LT" dirty="0">
                <a:latin typeface="Times New Roman" panose="02020603050405020304" pitchFamily="18" charset="0"/>
                <a:cs typeface="Times New Roman" panose="02020603050405020304" pitchFamily="18" charset="0"/>
              </a:rPr>
            </a:br>
            <a:r>
              <a:rPr lang="lt-LT" i="1" dirty="0">
                <a:latin typeface="Times New Roman" panose="02020603050405020304" pitchFamily="18" charset="0"/>
                <a:cs typeface="Times New Roman" panose="02020603050405020304" pitchFamily="18" charset="0"/>
              </a:rPr>
              <a:t>„šnarėti“</a:t>
            </a:r>
            <a:r>
              <a:rPr lang="lt-LT" dirty="0">
                <a:latin typeface="Times New Roman" panose="02020603050405020304" pitchFamily="18" charset="0"/>
                <a:cs typeface="Times New Roman" panose="02020603050405020304" pitchFamily="18" charset="0"/>
              </a:rPr>
              <a:t> (kai lietus tyliai krinta ant lapų).</a:t>
            </a:r>
          </a:p>
          <a:p>
            <a:pPr marL="45720" indent="0">
              <a:buNone/>
            </a:pPr>
            <a:r>
              <a:rPr lang="lt-LT" dirty="0">
                <a:latin typeface="Times New Roman" panose="02020603050405020304" pitchFamily="18" charset="0"/>
                <a:cs typeface="Times New Roman" panose="02020603050405020304" pitchFamily="18" charset="0"/>
              </a:rPr>
              <a:t>🔹 Tad kitą kartą, kai už lango lyja, pabandykite papasakoti apie lietų įvairiau – pasirinkite tinkamą žodį pagal nuotaiką ir stiprumą. 🌧️</a:t>
            </a:r>
          </a:p>
          <a:p>
            <a:endParaRPr lang="lt-LT" dirty="0"/>
          </a:p>
        </p:txBody>
      </p:sp>
      <p:sp>
        <p:nvSpPr>
          <p:cNvPr id="3" name="Title 2">
            <a:extLst>
              <a:ext uri="{FF2B5EF4-FFF2-40B4-BE49-F238E27FC236}">
                <a16:creationId xmlns:a16="http://schemas.microsoft.com/office/drawing/2014/main" id="{B5076EF0-B0C6-44CD-1EED-0B5FDDF73C37}"/>
              </a:ext>
            </a:extLst>
          </p:cNvPr>
          <p:cNvSpPr>
            <a:spLocks noGrp="1"/>
          </p:cNvSpPr>
          <p:nvPr>
            <p:ph type="title"/>
          </p:nvPr>
        </p:nvSpPr>
        <p:spPr/>
        <p:txBody>
          <a:bodyPr/>
          <a:lstStyle/>
          <a:p>
            <a:r>
              <a:rPr lang="lt-LT" b="1" dirty="0"/>
              <a:t>LYTI</a:t>
            </a:r>
            <a:br>
              <a:rPr lang="lt-LT" b="1" dirty="0"/>
            </a:br>
            <a:endParaRPr lang="lt-LT" dirty="0"/>
          </a:p>
        </p:txBody>
      </p:sp>
    </p:spTree>
    <p:extLst>
      <p:ext uri="{BB962C8B-B14F-4D97-AF65-F5344CB8AC3E}">
        <p14:creationId xmlns:p14="http://schemas.microsoft.com/office/powerpoint/2010/main" val="1054081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lt-LT" dirty="0">
                <a:latin typeface="Times New Roman" panose="02020603050405020304" pitchFamily="18" charset="0"/>
                <a:cs typeface="Times New Roman" panose="02020603050405020304" pitchFamily="18" charset="0"/>
              </a:rPr>
              <a:t>Ši žiema mus džiugina puriausiais sniego patalais ir tikru žiemišku šaltuku. Šeimos su vaikais traukia rogutes ir smagiai leidžiasi nuo kalniukų, stato sniego senius. Lietuvių kalba itin žodinga, todėl ir sinonimų, kuriais galime paįvairinti savo pasakojimus apie žiemos išdaigas, yra išties daug. Štai veiksmažodis „snigti“ turi tokių, taip pat ir mažiau girdėtų, sinonimų: „snỹguriuoti“ (pamažu), „snai̇̃guriuoti“, „snieguliúoti“, „snai̇̃galioti“, „snaigýti“, „snigčióti“, „snignóti“, „sniegénti“, „snỹgaroti“, „snéigėti“ (smarkiai), „drė̃bti“ (prk., dideliais sniego dribsniais), „birénti“ (smulkiomis kruopelėmis), „birsnóti“ ir kt.</a:t>
            </a:r>
          </a:p>
          <a:p>
            <a:r>
              <a:rPr lang="lt-LT" dirty="0">
                <a:latin typeface="Times New Roman" panose="02020603050405020304" pitchFamily="18" charset="0"/>
                <a:cs typeface="Times New Roman" panose="02020603050405020304" pitchFamily="18" charset="0"/>
              </a:rPr>
              <a:t>Tad kitą kartą, kai draugams pasakosite apie tai, kaip už lango sninga, paįvairinkite savo pasakojimą šiais sinonimais. Taip pat kviečiame pasidalyti komentarų skiltyje, kuris veiksmažodis jums pasirodė naujas arba mažiau girdėtas.</a:t>
            </a:r>
          </a:p>
          <a:p>
            <a:endParaRPr lang="en-US" dirty="0"/>
          </a:p>
        </p:txBody>
      </p:sp>
      <p:sp>
        <p:nvSpPr>
          <p:cNvPr id="3" name="Title 2"/>
          <p:cNvSpPr>
            <a:spLocks noGrp="1"/>
          </p:cNvSpPr>
          <p:nvPr>
            <p:ph type="title"/>
          </p:nvPr>
        </p:nvSpPr>
        <p:spPr/>
        <p:txBody>
          <a:bodyPr/>
          <a:lstStyle/>
          <a:p>
            <a:r>
              <a:rPr lang="en-US" dirty="0" err="1"/>
              <a:t>Snigti</a:t>
            </a:r>
            <a:endParaRPr lang="en-US" dirty="0"/>
          </a:p>
        </p:txBody>
      </p:sp>
    </p:spTree>
    <p:extLst>
      <p:ext uri="{BB962C8B-B14F-4D97-AF65-F5344CB8AC3E}">
        <p14:creationId xmlns:p14="http://schemas.microsoft.com/office/powerpoint/2010/main" val="968841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0999" y="1719071"/>
            <a:ext cx="8407893" cy="4407408"/>
          </a:xfrm>
          <a:prstGeom prst="rect">
            <a:avLst/>
          </a:prstGeom>
        </p:spPr>
        <p:txBody>
          <a:bodyPr vert="horz" lIns="91440" tIns="45720" rIns="91440" bIns="45720" rtlCol="0">
            <a:normAutofit/>
          </a:bodyPr>
          <a:lstStyle/>
          <a:p>
            <a:pPr marL="274320" indent="-228600">
              <a:spcBef>
                <a:spcPct val="20000"/>
              </a:spcBef>
              <a:buClr>
                <a:schemeClr val="accent1"/>
              </a:buClr>
              <a:buFont typeface="Wingdings 2" pitchFamily="18" charset="2"/>
              <a:buChar char=""/>
            </a:pPr>
            <a:r>
              <a:rPr lang="lt-LT" sz="2000" spc="150" baseline="0" noProof="0" dirty="0">
                <a:solidFill>
                  <a:schemeClr val="tx2"/>
                </a:solidFill>
                <a:latin typeface="Times New Roman" panose="02020603050405020304" pitchFamily="18" charset="0"/>
                <a:cs typeface="Times New Roman" panose="02020603050405020304" pitchFamily="18" charset="0"/>
              </a:rPr>
              <a:t>Žarna žarną </a:t>
            </a:r>
            <a:r>
              <a:rPr lang="lt-LT" sz="2000" spc="150" baseline="0" noProof="0" dirty="0" err="1">
                <a:solidFill>
                  <a:schemeClr val="tx2"/>
                </a:solidFill>
                <a:latin typeface="Times New Roman" panose="02020603050405020304" pitchFamily="18" charset="0"/>
                <a:cs typeface="Times New Roman" panose="02020603050405020304" pitchFamily="18" charset="0"/>
              </a:rPr>
              <a:t>ryj</a:t>
            </a:r>
            <a:r>
              <a:rPr lang="lt-LT" sz="2000" spc="150" baseline="0" noProof="0" dirty="0">
                <a:solidFill>
                  <a:schemeClr val="tx2"/>
                </a:solidFill>
                <a:latin typeface="Times New Roman" panose="02020603050405020304" pitchFamily="18" charset="0"/>
                <a:cs typeface="Times New Roman" panose="02020603050405020304" pitchFamily="18" charset="0"/>
              </a:rPr>
              <a:t>, </a:t>
            </a:r>
            <a:r>
              <a:rPr lang="lt-LT" sz="2000" spc="150" baseline="0" noProof="0" dirty="0" err="1">
                <a:solidFill>
                  <a:schemeClr val="tx2"/>
                </a:solidFill>
                <a:latin typeface="Times New Roman" panose="02020603050405020304" pitchFamily="18" charset="0"/>
                <a:cs typeface="Times New Roman" panose="02020603050405020304" pitchFamily="18" charset="0"/>
              </a:rPr>
              <a:t>teip</a:t>
            </a:r>
            <a:r>
              <a:rPr lang="lt-LT" sz="2000" spc="150" baseline="0" noProof="0" dirty="0">
                <a:solidFill>
                  <a:schemeClr val="tx2"/>
                </a:solidFill>
                <a:latin typeface="Times New Roman" panose="02020603050405020304" pitchFamily="18" charset="0"/>
                <a:cs typeface="Times New Roman" panose="02020603050405020304" pitchFamily="18" charset="0"/>
              </a:rPr>
              <a:t> noriu valgyt! Tiek varna perta, tiek neperta, </a:t>
            </a:r>
            <a:r>
              <a:rPr lang="lt-LT" sz="2000" spc="150" baseline="0" noProof="0" dirty="0" err="1">
                <a:solidFill>
                  <a:schemeClr val="tx2"/>
                </a:solidFill>
                <a:latin typeface="Times New Roman" panose="02020603050405020304" pitchFamily="18" charset="0"/>
                <a:cs typeface="Times New Roman" panose="02020603050405020304" pitchFamily="18" charset="0"/>
              </a:rPr>
              <a:t>bo</a:t>
            </a:r>
            <a:r>
              <a:rPr lang="lt-LT" sz="2000" spc="150" baseline="0" noProof="0" dirty="0">
                <a:solidFill>
                  <a:schemeClr val="tx2"/>
                </a:solidFill>
                <a:latin typeface="Times New Roman" panose="02020603050405020304" pitchFamily="18" charset="0"/>
                <a:cs typeface="Times New Roman" panose="02020603050405020304" pitchFamily="18" charset="0"/>
              </a:rPr>
              <a:t> juoda – juoda. </a:t>
            </a:r>
            <a:r>
              <a:rPr lang="lt-LT" sz="2000" spc="150" baseline="0" noProof="0" dirty="0" err="1">
                <a:solidFill>
                  <a:schemeClr val="tx2"/>
                </a:solidFill>
                <a:latin typeface="Times New Roman" panose="02020603050405020304" pitchFamily="18" charset="0"/>
                <a:cs typeface="Times New Roman" panose="02020603050405020304" pitchFamily="18" charset="0"/>
              </a:rPr>
              <a:t>Trat</a:t>
            </a:r>
            <a:r>
              <a:rPr lang="lt-LT" sz="2000" spc="150" baseline="0" noProof="0" dirty="0">
                <a:solidFill>
                  <a:schemeClr val="tx2"/>
                </a:solidFill>
                <a:latin typeface="Times New Roman" panose="02020603050405020304" pitchFamily="18" charset="0"/>
                <a:cs typeface="Times New Roman" panose="02020603050405020304" pitchFamily="18" charset="0"/>
              </a:rPr>
              <a:t> kai </a:t>
            </a:r>
            <a:r>
              <a:rPr lang="lt-LT" sz="2000" spc="150" baseline="0" noProof="0" dirty="0" err="1">
                <a:solidFill>
                  <a:schemeClr val="tx2"/>
                </a:solidFill>
                <a:latin typeface="Times New Roman" panose="02020603050405020304" pitchFamily="18" charset="0"/>
                <a:cs typeface="Times New Roman" panose="02020603050405020304" pitchFamily="18" charset="0"/>
              </a:rPr>
              <a:t>aglišakių</a:t>
            </a:r>
            <a:r>
              <a:rPr lang="lt-LT" sz="2000" spc="150" baseline="0" noProof="0" dirty="0">
                <a:solidFill>
                  <a:schemeClr val="tx2"/>
                </a:solidFill>
                <a:latin typeface="Times New Roman" panose="02020603050405020304" pitchFamily="18" charset="0"/>
                <a:cs typeface="Times New Roman" panose="02020603050405020304" pitchFamily="18" charset="0"/>
              </a:rPr>
              <a:t> tvora. Ant burnos numanysi šaukšto didumą. </a:t>
            </a:r>
            <a:r>
              <a:rPr lang="lt-LT" sz="2000" spc="150" baseline="0" noProof="0" dirty="0" err="1">
                <a:solidFill>
                  <a:schemeClr val="tx2"/>
                </a:solidFill>
                <a:latin typeface="Times New Roman" panose="02020603050405020304" pitchFamily="18" charset="0"/>
                <a:cs typeface="Times New Roman" panose="02020603050405020304" pitchFamily="18" charset="0"/>
              </a:rPr>
              <a:t>Darbs</a:t>
            </a:r>
            <a:r>
              <a:rPr lang="lt-LT" sz="2000" spc="150" baseline="0" noProof="0" dirty="0">
                <a:solidFill>
                  <a:schemeClr val="tx2"/>
                </a:solidFill>
                <a:latin typeface="Times New Roman" panose="02020603050405020304" pitchFamily="18" charset="0"/>
                <a:cs typeface="Times New Roman" panose="02020603050405020304" pitchFamily="18" charset="0"/>
              </a:rPr>
              <a:t> meistrą gir.</a:t>
            </a:r>
          </a:p>
          <a:p>
            <a:pPr marL="274320" indent="-228600">
              <a:spcBef>
                <a:spcPct val="20000"/>
              </a:spcBef>
              <a:buClr>
                <a:schemeClr val="accent1"/>
              </a:buClr>
              <a:buFont typeface="Wingdings 2" pitchFamily="18" charset="2"/>
              <a:buChar char=""/>
            </a:pPr>
            <a:endParaRPr lang="lt-LT" sz="2000" spc="150" baseline="0" noProof="0" dirty="0">
              <a:solidFill>
                <a:schemeClr val="tx2"/>
              </a:solidFill>
              <a:latin typeface="Times New Roman" panose="02020603050405020304" pitchFamily="18" charset="0"/>
              <a:cs typeface="Times New Roman" panose="02020603050405020304" pitchFamily="18" charset="0"/>
            </a:endParaRPr>
          </a:p>
          <a:p>
            <a:pPr marL="274320" indent="-228600">
              <a:spcBef>
                <a:spcPct val="20000"/>
              </a:spcBef>
              <a:buClr>
                <a:schemeClr val="accent1"/>
              </a:buClr>
              <a:buFont typeface="Wingdings 2" pitchFamily="18" charset="2"/>
              <a:buChar char=""/>
            </a:pPr>
            <a:r>
              <a:rPr lang="lt-LT" sz="2000" spc="150" baseline="0" noProof="0" dirty="0">
                <a:solidFill>
                  <a:schemeClr val="tx2"/>
                </a:solidFill>
                <a:latin typeface="Times New Roman" panose="02020603050405020304" pitchFamily="18" charset="0"/>
                <a:cs typeface="Times New Roman" panose="02020603050405020304" pitchFamily="18" charset="0"/>
              </a:rPr>
              <a:t>Štai tokie kalbos perliukai žėri Jono Jablonskio sudarytoje kartotekoje, kurią sudaro net 14,5 tūkst. kortelių. Kalbininkas Jonas Jablonskis suprato, kaip svarbu yra kalbos normas grįsti kaimo žmonių kalbos dėsniais ir duomenimis. Šią kartoteką išsamiai aprašo Bendrinės kalbos tyrimų centro vyriausioji mokslo darbuotoja dr. Vilija Sakalauskienė. Tekstas publikuotas leidinyje „Gimtoji kalba“.</a:t>
            </a:r>
          </a:p>
        </p:txBody>
      </p:sp>
      <p:sp>
        <p:nvSpPr>
          <p:cNvPr id="2" name="Title 1"/>
          <p:cNvSpPr>
            <a:spLocks noGrp="1"/>
          </p:cNvSpPr>
          <p:nvPr>
            <p:ph type="title"/>
          </p:nvPr>
        </p:nvSpPr>
        <p:spPr>
          <a:xfrm>
            <a:off x="381000" y="355847"/>
            <a:ext cx="8381260" cy="1054394"/>
          </a:xfrm>
        </p:spPr>
        <p:txBody>
          <a:bodyPr vert="horz" lIns="91440" tIns="45720" rIns="91440" bIns="45720" rtlCol="0" anchor="ctr">
            <a:normAutofit/>
          </a:bodyPr>
          <a:lstStyle/>
          <a:p>
            <a:r>
              <a:rPr lang="en-US" kern="1200" cap="all" spc="200" baseline="0">
                <a:ln>
                  <a:noFill/>
                </a:ln>
                <a:effectLst/>
                <a:latin typeface="+mj-lt"/>
                <a:ea typeface="+mj-ea"/>
                <a:cs typeface="+mj-cs"/>
              </a:rPr>
              <a:t>Jablonskis</a:t>
            </a:r>
          </a:p>
        </p:txBody>
      </p:sp>
    </p:spTree>
    <p:extLst>
      <p:ext uri="{BB962C8B-B14F-4D97-AF65-F5344CB8AC3E}">
        <p14:creationId xmlns:p14="http://schemas.microsoft.com/office/powerpoint/2010/main" val="583868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Jablonskis</a:t>
            </a:r>
          </a:p>
        </p:txBody>
      </p:sp>
      <p:sp>
        <p:nvSpPr>
          <p:cNvPr id="3" name="Rectangle 2"/>
          <p:cNvSpPr/>
          <p:nvPr/>
        </p:nvSpPr>
        <p:spPr>
          <a:xfrm>
            <a:off x="381000" y="1988840"/>
            <a:ext cx="7935416" cy="3416320"/>
          </a:xfrm>
          <a:prstGeom prst="rect">
            <a:avLst/>
          </a:prstGeom>
        </p:spPr>
        <p:txBody>
          <a:bodyPr wrap="square">
            <a:spAutoFit/>
          </a:bodyPr>
          <a:lstStyle/>
          <a:p>
            <a:r>
              <a:rPr lang="lt-LT" dirty="0">
                <a:latin typeface="Times New Roman" panose="02020603050405020304" pitchFamily="18" charset="0"/>
                <a:cs typeface="Times New Roman" panose="02020603050405020304" pitchFamily="18" charset="0"/>
              </a:rPr>
              <a:t>Jonui Jablonskiui – 165 metų! 1860 m. gruodžio 30 d. Kubilėlių kaime, tuometėje Marijampolės apskrityje, gimė būsimasis kalbininkas ir lietuvių bendrinės kalbos ugdytojas Jonas Jablonskis (1860–1930). Nors praėjo jau šimtmetis, kai pasirodė svarbiausi kalbininko lituanistiniai veikalai („Lietuviškos kalbos gramatika“, „Lietuvių kalbos sintaksė“, „Lietuvių kalbos gramatika“, „Lietuvių kalbos vadovėlis“, „Linksniai ir prielinksniai“), tačiau jo kalbinės kūrybos ženklai teberegimi ir šiandien beveik kiekviename mūsų kasdienybės žingsnyje – pradedant 1901 m. gramatikoje kodifikuota dabartine lietuvių kalbos abėcėle ir baigiant begale kasdienių žodžių. Jono Jablonskio pasiūlyti žodžiai – antradienis, ateitis, bendradarbis, daugiskaita, degtukas, laiškas, ligoninė, mokykla, nepriklausomybė, nuodėmė, pieštukas, pirmadienis, praeitis, sakykla, vaistai, virtuvė – tebevartojami iki šiol.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7760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lt-LT" dirty="0">
                <a:latin typeface="Times New Roman" panose="02020603050405020304" pitchFamily="18" charset="0"/>
                <a:cs typeface="Times New Roman" panose="02020603050405020304" pitchFamily="18" charset="0"/>
              </a:rPr>
              <a:t>Lietuvių kalbos institute kitais metais bus baigta kurti internetinė nemokama skaitmeninių kalbos išteklių sistema „E. kalba“ (adresas bus </a:t>
            </a:r>
            <a:r>
              <a:rPr lang="lt-LT" dirty="0">
                <a:latin typeface="Times New Roman" panose="02020603050405020304" pitchFamily="18" charset="0"/>
                <a:cs typeface="Times New Roman" panose="02020603050405020304" pitchFamily="18" charset="0"/>
                <a:hlinkClick r:id="rId2"/>
              </a:rPr>
              <a:t>https://ekalba.lki.lt</a:t>
            </a:r>
            <a:r>
              <a:rPr lang="lt-LT" dirty="0">
                <a:latin typeface="Times New Roman" panose="02020603050405020304" pitchFamily="18" charset="0"/>
                <a:cs typeface="Times New Roman" panose="02020603050405020304" pitchFamily="18" charset="0"/>
              </a:rPr>
              <a:t>, bandomosios versijos adresas yra </a:t>
            </a:r>
            <a:r>
              <a:rPr lang="lt-LT" dirty="0">
                <a:latin typeface="Times New Roman" panose="02020603050405020304" pitchFamily="18" charset="0"/>
                <a:cs typeface="Times New Roman" panose="02020603050405020304" pitchFamily="18" charset="0"/>
                <a:hlinkClick r:id="rId3"/>
              </a:rPr>
              <a:t>https://ekalba.lt/public#/home/main</a:t>
            </a:r>
            <a:r>
              <a:rPr lang="lt-LT" dirty="0">
                <a:latin typeface="Times New Roman" panose="02020603050405020304" pitchFamily="18" charset="0"/>
                <a:cs typeface="Times New Roman" panose="02020603050405020304" pitchFamily="18" charset="0"/>
              </a:rPr>
              <a:t>).</a:t>
            </a:r>
          </a:p>
          <a:p>
            <a:r>
              <a:rPr lang="lt-LT" dirty="0">
                <a:latin typeface="Times New Roman" panose="02020603050405020304" pitchFamily="18" charset="0"/>
                <a:cs typeface="Times New Roman" panose="02020603050405020304" pitchFamily="18" charset="0"/>
              </a:rPr>
              <a:t>Tai spalvinga įvairiausios naudingos informacijos apie lietuvių kalbą sankaupa. Patogaus formato svetainėje lankytojai ras net 19 žodynų (įskaitant ir rengiamą naują „Bendrinės lietuvių kalbos žodyną“, „Naujažodžių duomenyną“, taip pat sinonimų, antonimų, užsienio kalbų žodynus), įvairių kartotekų ir duomenų bazių, galės naudotis e. paslaugomis (pvz., Žodžių prasmių tinklu, nuomonių analizatoriumi, „E. sąvokomis“, „E. patarimais“ ir kt.). Ši sistema skirta ne tik kalbos profesionalams ir mokslininkams, bet ir tiems, kurie nori geriau pažinti gimtąją kalbą, sekti kalbos naujoves, be to, „E. kalba“ labai pravers užsieniečiams, besimokantiems lietuvių kalbos.</a:t>
            </a:r>
          </a:p>
          <a:p>
            <a:r>
              <a:rPr lang="lt-LT" dirty="0">
                <a:latin typeface="Times New Roman" panose="02020603050405020304" pitchFamily="18" charset="0"/>
                <a:cs typeface="Times New Roman" panose="02020603050405020304" pitchFamily="18" charset="0"/>
                <a:hlinkClick r:id="rId4"/>
              </a:rPr>
              <a:t>https://pasauliolietuvis.lt/beribis-lietuviu-kalbos.../</a:t>
            </a:r>
            <a:endParaRPr lang="lt-LT" dirty="0">
              <a:latin typeface="Times New Roman" panose="02020603050405020304" pitchFamily="18" charset="0"/>
              <a:cs typeface="Times New Roman" panose="02020603050405020304" pitchFamily="18" charset="0"/>
            </a:endParaRPr>
          </a:p>
          <a:p>
            <a:endParaRPr lang="en-US" dirty="0"/>
          </a:p>
        </p:txBody>
      </p:sp>
      <p:sp>
        <p:nvSpPr>
          <p:cNvPr id="3" name="Title 2"/>
          <p:cNvSpPr>
            <a:spLocks noGrp="1"/>
          </p:cNvSpPr>
          <p:nvPr>
            <p:ph type="title"/>
          </p:nvPr>
        </p:nvSpPr>
        <p:spPr/>
        <p:txBody>
          <a:bodyPr/>
          <a:lstStyle/>
          <a:p>
            <a:r>
              <a:rPr lang="lt-LT" noProof="0" dirty="0"/>
              <a:t>Naudinga</a:t>
            </a:r>
          </a:p>
        </p:txBody>
      </p:sp>
    </p:spTree>
    <p:extLst>
      <p:ext uri="{BB962C8B-B14F-4D97-AF65-F5344CB8AC3E}">
        <p14:creationId xmlns:p14="http://schemas.microsoft.com/office/powerpoint/2010/main" val="1869046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hlinkClick r:id="rId2"/>
              </a:rPr>
              <a:t>https://fb.watch/3ATFSppGYn/</a:t>
            </a:r>
            <a:endParaRPr lang="en-US" dirty="0"/>
          </a:p>
          <a:p>
            <a:endParaRPr lang="en-US" dirty="0"/>
          </a:p>
        </p:txBody>
      </p:sp>
      <p:sp>
        <p:nvSpPr>
          <p:cNvPr id="3" name="Title 2"/>
          <p:cNvSpPr>
            <a:spLocks noGrp="1"/>
          </p:cNvSpPr>
          <p:nvPr>
            <p:ph type="title"/>
          </p:nvPr>
        </p:nvSpPr>
        <p:spPr/>
        <p:txBody>
          <a:bodyPr/>
          <a:lstStyle/>
          <a:p>
            <a:r>
              <a:rPr lang="lt-LT" noProof="0" dirty="0"/>
              <a:t>Naudinga</a:t>
            </a:r>
          </a:p>
        </p:txBody>
      </p:sp>
    </p:spTree>
    <p:extLst>
      <p:ext uri="{BB962C8B-B14F-4D97-AF65-F5344CB8AC3E}">
        <p14:creationId xmlns:p14="http://schemas.microsoft.com/office/powerpoint/2010/main" val="3477981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p:txBody>
          <a:bodyPr/>
          <a:lstStyle/>
          <a:p>
            <a:r>
              <a:rPr lang="lt-LT" dirty="0"/>
              <a:t>Kūno kalba arba neverbalinė komunikacija nėra paviršinė kalba, bet gali suteikti mums daug papildomos informacijos apie pokalbio situaciją ir partnerį.</a:t>
            </a:r>
            <a:endParaRPr lang="en-US" dirty="0"/>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44008" y="1988840"/>
            <a:ext cx="3510602" cy="2016224"/>
          </a:xfrm>
        </p:spPr>
      </p:pic>
      <p:sp>
        <p:nvSpPr>
          <p:cNvPr id="4" name="Title 3"/>
          <p:cNvSpPr>
            <a:spLocks noGrp="1"/>
          </p:cNvSpPr>
          <p:nvPr>
            <p:ph type="title"/>
          </p:nvPr>
        </p:nvSpPr>
        <p:spPr/>
        <p:txBody>
          <a:bodyPr/>
          <a:lstStyle/>
          <a:p>
            <a:r>
              <a:rPr lang="lv-LV" dirty="0"/>
              <a:t>Kūno kalba</a:t>
            </a:r>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4074" y="4293096"/>
            <a:ext cx="3360374" cy="2016224"/>
          </a:xfrm>
          <a:prstGeom prst="rect">
            <a:avLst/>
          </a:prstGeom>
        </p:spPr>
      </p:pic>
    </p:spTree>
    <p:extLst>
      <p:ext uri="{BB962C8B-B14F-4D97-AF65-F5344CB8AC3E}">
        <p14:creationId xmlns:p14="http://schemas.microsoft.com/office/powerpoint/2010/main" val="2344437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rPr lang="lt-LT" dirty="0"/>
              <a:t>Kūno kalba išmokama lygiagrečiai su žodine kalba: ieškoma, mokoma ir kartojama, todėl ji tiesiogiai susijusi su gyvenimo vieta, visuomene ir ją supančia atmosfera.</a:t>
            </a:r>
            <a:endParaRPr lang="en-US" dirty="0"/>
          </a:p>
        </p:txBody>
      </p:sp>
      <p:sp>
        <p:nvSpPr>
          <p:cNvPr id="3" name="Content Placeholder 2"/>
          <p:cNvSpPr>
            <a:spLocks noGrp="1"/>
          </p:cNvSpPr>
          <p:nvPr>
            <p:ph sz="half" idx="2"/>
          </p:nvPr>
        </p:nvSpPr>
        <p:spPr/>
        <p:txBody>
          <a:bodyPr>
            <a:normAutofit/>
          </a:bodyPr>
          <a:lstStyle/>
          <a:p>
            <a:pPr marL="45720" indent="0">
              <a:buNone/>
            </a:pPr>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1243" y="2996952"/>
            <a:ext cx="3732514" cy="2642324"/>
          </a:xfrm>
          <a:prstGeom prst="rect">
            <a:avLst/>
          </a:prstGeom>
        </p:spPr>
      </p:pic>
    </p:spTree>
    <p:extLst>
      <p:ext uri="{BB962C8B-B14F-4D97-AF65-F5344CB8AC3E}">
        <p14:creationId xmlns:p14="http://schemas.microsoft.com/office/powerpoint/2010/main" val="473536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39552" y="1844824"/>
            <a:ext cx="2088494" cy="3138447"/>
          </a:xfrm>
        </p:spPr>
      </p:pic>
      <p:sp>
        <p:nvSpPr>
          <p:cNvPr id="4" name="Title 3"/>
          <p:cNvSpPr>
            <a:spLocks noGrp="1"/>
          </p:cNvSpPr>
          <p:nvPr>
            <p:ph type="title"/>
          </p:nvPr>
        </p:nvSpPr>
        <p:spPr/>
        <p:txBody>
          <a:bodyPr/>
          <a:lstStyle/>
          <a:p>
            <a:r>
              <a:rPr lang="lt-LT" dirty="0"/>
              <a:t>Antakių pakėlimas</a:t>
            </a:r>
            <a:endParaRPr lang="en-US" dirty="0"/>
          </a:p>
        </p:txBody>
      </p:sp>
      <p:sp>
        <p:nvSpPr>
          <p:cNvPr id="7" name="Content Placeholder 6"/>
          <p:cNvSpPr>
            <a:spLocks noGrp="1"/>
          </p:cNvSpPr>
          <p:nvPr>
            <p:ph sz="half" idx="2"/>
          </p:nvPr>
        </p:nvSpPr>
        <p:spPr/>
        <p:txBody>
          <a:bodyPr>
            <a:normAutofit fontScale="92500" lnSpcReduction="10000"/>
          </a:bodyPr>
          <a:lstStyle/>
          <a:p>
            <a:r>
              <a:rPr lang="lt-LT" dirty="0"/>
              <a:t>Antakių pakėlimas dažnai vyksta be mūsų žinios, kai matome ką nors, ką žinome. Tačiau sąmonės lygiu galime jį naudoti kaip greitą ir nepastebimą pasveikinimo būdą. Be to, šis metodas yra visuotinis pasaulyje.</a:t>
            </a:r>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3079" y="4509120"/>
            <a:ext cx="2518725" cy="1872208"/>
          </a:xfrm>
          <a:prstGeom prst="rect">
            <a:avLst/>
          </a:prstGeom>
        </p:spPr>
      </p:pic>
    </p:spTree>
    <p:extLst>
      <p:ext uri="{BB962C8B-B14F-4D97-AF65-F5344CB8AC3E}">
        <p14:creationId xmlns:p14="http://schemas.microsoft.com/office/powerpoint/2010/main" val="3804303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860032" y="1844824"/>
            <a:ext cx="2736304" cy="2389449"/>
          </a:xfrm>
        </p:spPr>
      </p:pic>
      <p:sp>
        <p:nvSpPr>
          <p:cNvPr id="4" name="Title 3"/>
          <p:cNvSpPr>
            <a:spLocks noGrp="1"/>
          </p:cNvSpPr>
          <p:nvPr>
            <p:ph type="title"/>
          </p:nvPr>
        </p:nvSpPr>
        <p:spPr/>
        <p:txBody>
          <a:bodyPr/>
          <a:lstStyle/>
          <a:p>
            <a:r>
              <a:rPr lang="en-US" dirty="0" err="1"/>
              <a:t>Rankos</a:t>
            </a:r>
            <a:r>
              <a:rPr lang="en-US" dirty="0"/>
              <a:t> </a:t>
            </a:r>
            <a:r>
              <a:rPr lang="en-US" dirty="0" err="1"/>
              <a:t>dubenyje</a:t>
            </a:r>
            <a:endParaRPr lang="en-US" dirty="0"/>
          </a:p>
        </p:txBody>
      </p:sp>
      <p:sp>
        <p:nvSpPr>
          <p:cNvPr id="6" name="Content Placeholder 5"/>
          <p:cNvSpPr>
            <a:spLocks noGrp="1"/>
          </p:cNvSpPr>
          <p:nvPr>
            <p:ph sz="half" idx="1"/>
          </p:nvPr>
        </p:nvSpPr>
        <p:spPr/>
        <p:txBody>
          <a:bodyPr>
            <a:normAutofit/>
          </a:bodyPr>
          <a:lstStyle/>
          <a:p>
            <a:r>
              <a:rPr lang="lt-LT" dirty="0"/>
              <a:t>Tai yra gestas, kai mūsų rankos yra simetriškai ir sinchroniškai pakeltos į viršų ir išsikiša, kad suformuotų „dubenį“: „viskas yra aišku man, pažiūrėkite čia!“.</a:t>
            </a:r>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6416" y="3908382"/>
            <a:ext cx="2520280" cy="2520280"/>
          </a:xfrm>
          <a:prstGeom prst="rect">
            <a:avLst/>
          </a:prstGeom>
        </p:spPr>
      </p:pic>
    </p:spTree>
    <p:extLst>
      <p:ext uri="{BB962C8B-B14F-4D97-AF65-F5344CB8AC3E}">
        <p14:creationId xmlns:p14="http://schemas.microsoft.com/office/powerpoint/2010/main" val="3811462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67544" y="1844824"/>
            <a:ext cx="2311633" cy="3024336"/>
          </a:xfrm>
        </p:spPr>
      </p:pic>
      <p:sp>
        <p:nvSpPr>
          <p:cNvPr id="3" name="Content Placeholder 2"/>
          <p:cNvSpPr>
            <a:spLocks noGrp="1"/>
          </p:cNvSpPr>
          <p:nvPr>
            <p:ph sz="half" idx="2"/>
          </p:nvPr>
        </p:nvSpPr>
        <p:spPr/>
        <p:txBody>
          <a:bodyPr>
            <a:normAutofit/>
          </a:bodyPr>
          <a:lstStyle/>
          <a:p>
            <a:r>
              <a:rPr lang="lt-LT" dirty="0"/>
              <a:t>Tikros šypsenos (kuri išreiškia tikrus laimės ir džiaugsmo jausmus) ir formalios šypsenos skirtumai (formalumas ir mandagumas).</a:t>
            </a:r>
            <a:endParaRPr lang="en-US" dirty="0"/>
          </a:p>
        </p:txBody>
      </p:sp>
      <p:sp>
        <p:nvSpPr>
          <p:cNvPr id="4" name="Title 3"/>
          <p:cNvSpPr>
            <a:spLocks noGrp="1"/>
          </p:cNvSpPr>
          <p:nvPr>
            <p:ph type="title"/>
          </p:nvPr>
        </p:nvSpPr>
        <p:spPr/>
        <p:txBody>
          <a:bodyPr/>
          <a:lstStyle/>
          <a:p>
            <a:r>
              <a:rPr lang="en-US" dirty="0" err="1"/>
              <a:t>šypsena</a:t>
            </a:r>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05094" y="4094834"/>
            <a:ext cx="2925067" cy="2193800"/>
          </a:xfrm>
          <a:prstGeom prst="rect">
            <a:avLst/>
          </a:prstGeom>
        </p:spPr>
      </p:pic>
    </p:spTree>
    <p:extLst>
      <p:ext uri="{BB962C8B-B14F-4D97-AF65-F5344CB8AC3E}">
        <p14:creationId xmlns:p14="http://schemas.microsoft.com/office/powerpoint/2010/main" val="4159658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rPr lang="lt-LT" dirty="0"/>
              <a:t>Šis gestas yra uždarytas kumštis su nykščiu ir yra labai veiksmingas viešojo kalbėjimo būdas, dar labiau pabrėžiantis teigiamą reikšmę.</a:t>
            </a:r>
            <a:endParaRPr lang="en-US" dirty="0"/>
          </a:p>
        </p:txBody>
      </p:sp>
      <p:sp>
        <p:nvSpPr>
          <p:cNvPr id="4" name="Title 3"/>
          <p:cNvSpPr>
            <a:spLocks noGrp="1"/>
          </p:cNvSpPr>
          <p:nvPr>
            <p:ph type="title"/>
          </p:nvPr>
        </p:nvSpPr>
        <p:spPr/>
        <p:txBody>
          <a:bodyPr/>
          <a:lstStyle/>
          <a:p>
            <a:r>
              <a:rPr lang="en-US" dirty="0"/>
              <a:t>«</a:t>
            </a:r>
            <a:r>
              <a:rPr lang="en-US" dirty="0" err="1"/>
              <a:t>Gerai</a:t>
            </a:r>
            <a:r>
              <a:rPr lang="en-US" dirty="0"/>
              <a:t>» </a:t>
            </a:r>
            <a:r>
              <a:rPr lang="en-US" dirty="0" err="1"/>
              <a:t>gestas</a:t>
            </a:r>
            <a:endParaRPr lang="en-US" dirty="0"/>
          </a:p>
        </p:txBody>
      </p:sp>
      <p:pic>
        <p:nvPicPr>
          <p:cNvPr id="8" name="Content Placeholder 7"/>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5220072" y="1844824"/>
            <a:ext cx="3271748" cy="2551964"/>
          </a:xfr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05613" y="4053658"/>
            <a:ext cx="4159393" cy="2177693"/>
          </a:xfrm>
          <a:prstGeom prst="rect">
            <a:avLst/>
          </a:prstGeom>
        </p:spPr>
      </p:pic>
    </p:spTree>
    <p:extLst>
      <p:ext uri="{BB962C8B-B14F-4D97-AF65-F5344CB8AC3E}">
        <p14:creationId xmlns:p14="http://schemas.microsoft.com/office/powerpoint/2010/main" val="2258411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95536" y="1916832"/>
            <a:ext cx="3672408" cy="2331067"/>
          </a:xfrm>
        </p:spPr>
      </p:pic>
      <p:sp>
        <p:nvSpPr>
          <p:cNvPr id="3" name="Content Placeholder 2"/>
          <p:cNvSpPr>
            <a:spLocks noGrp="1"/>
          </p:cNvSpPr>
          <p:nvPr>
            <p:ph sz="half" idx="2"/>
          </p:nvPr>
        </p:nvSpPr>
        <p:spPr/>
        <p:txBody>
          <a:bodyPr>
            <a:normAutofit/>
          </a:bodyPr>
          <a:lstStyle/>
          <a:p>
            <a:r>
              <a:rPr lang="lt-LT" dirty="0"/>
              <a:t>Kalbantis su lietuviais reikia išlaikyti  atstumą. Jiems reikia didelės privačios erdvės (panašiai kaip - norvegai, estai, latviai, suomiai). </a:t>
            </a:r>
            <a:endParaRPr lang="en-US" dirty="0"/>
          </a:p>
        </p:txBody>
      </p:sp>
      <p:sp>
        <p:nvSpPr>
          <p:cNvPr id="4" name="Title 3"/>
          <p:cNvSpPr>
            <a:spLocks noGrp="1"/>
          </p:cNvSpPr>
          <p:nvPr>
            <p:ph type="title"/>
          </p:nvPr>
        </p:nvSpPr>
        <p:spPr/>
        <p:txBody>
          <a:bodyPr/>
          <a:lstStyle/>
          <a:p>
            <a:r>
              <a:rPr lang="en-US" dirty="0" err="1"/>
              <a:t>Atstumas</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39" y="3933056"/>
            <a:ext cx="3234905" cy="2497346"/>
          </a:xfrm>
          <a:prstGeom prst="rect">
            <a:avLst/>
          </a:prstGeom>
        </p:spPr>
      </p:pic>
    </p:spTree>
    <p:extLst>
      <p:ext uri="{BB962C8B-B14F-4D97-AF65-F5344CB8AC3E}">
        <p14:creationId xmlns:p14="http://schemas.microsoft.com/office/powerpoint/2010/main" val="1246853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23528" y="1916832"/>
            <a:ext cx="3744416" cy="2104005"/>
          </a:xfrm>
        </p:spPr>
      </p:pic>
      <p:sp>
        <p:nvSpPr>
          <p:cNvPr id="3" name="Content Placeholder 2"/>
          <p:cNvSpPr>
            <a:spLocks noGrp="1"/>
          </p:cNvSpPr>
          <p:nvPr>
            <p:ph sz="half" idx="2"/>
          </p:nvPr>
        </p:nvSpPr>
        <p:spPr/>
        <p:txBody>
          <a:bodyPr>
            <a:normAutofit fontScale="92500" lnSpcReduction="10000"/>
          </a:bodyPr>
          <a:lstStyle/>
          <a:p>
            <a:r>
              <a:rPr lang="lt-LT" dirty="0"/>
              <a:t>Lietuviams, skandinavams reikia laiko pažinti, susirasti draugų ir pasitikėti. Todėl jie  dažnai stovi nuošalyje ir tyli. Nenustebkite, jei iškyla klausimas: „Ar turite klausimų? “, Klausytojų visiškai tyli.</a:t>
            </a:r>
            <a:endParaRPr lang="en-US" dirty="0"/>
          </a:p>
        </p:txBody>
      </p:sp>
      <p:sp>
        <p:nvSpPr>
          <p:cNvPr id="4" name="Title 3"/>
          <p:cNvSpPr>
            <a:spLocks noGrp="1"/>
          </p:cNvSpPr>
          <p:nvPr>
            <p:ph type="title"/>
          </p:nvPr>
        </p:nvSpPr>
        <p:spPr/>
        <p:txBody>
          <a:bodyPr/>
          <a:lstStyle/>
          <a:p>
            <a:r>
              <a:rPr lang="en-US" dirty="0" err="1"/>
              <a:t>Uždar</a:t>
            </a:r>
            <a:r>
              <a:rPr lang="lt-LT" dirty="0"/>
              <a:t>UMAS</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4216542"/>
            <a:ext cx="3816424" cy="2146739"/>
          </a:xfrm>
          <a:prstGeom prst="rect">
            <a:avLst/>
          </a:prstGeom>
        </p:spPr>
      </p:pic>
    </p:spTree>
    <p:extLst>
      <p:ext uri="{BB962C8B-B14F-4D97-AF65-F5344CB8AC3E}">
        <p14:creationId xmlns:p14="http://schemas.microsoft.com/office/powerpoint/2010/main" val="581776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rPr lang="lt-LT" dirty="0"/>
              <a:t> Pirmosios eilės salėje ar auditorijoje studentai nesirenka, </a:t>
            </a:r>
            <a:endParaRPr lang="en-US" dirty="0"/>
          </a:p>
        </p:txBody>
      </p:sp>
      <p:sp>
        <p:nvSpPr>
          <p:cNvPr id="3" name="Content Placeholder 2"/>
          <p:cNvSpPr>
            <a:spLocks noGrp="1"/>
          </p:cNvSpPr>
          <p:nvPr>
            <p:ph sz="half" idx="2"/>
          </p:nvPr>
        </p:nvSpPr>
        <p:spPr/>
        <p:txBody>
          <a:bodyPr>
            <a:normAutofit/>
          </a:bodyPr>
          <a:lstStyle/>
          <a:p>
            <a:r>
              <a:rPr lang="lt-LT" dirty="0"/>
              <a:t>Jei turite keliauti viešuoju transportu, lietuviai stengiasi įsikurti taip, kad šalia jo esanti vieta būtų laisva.</a:t>
            </a:r>
            <a:endParaRPr lang="en-US" dirty="0"/>
          </a:p>
        </p:txBody>
      </p:sp>
      <p:sp>
        <p:nvSpPr>
          <p:cNvPr id="4" name="Title 3"/>
          <p:cNvSpPr>
            <a:spLocks noGrp="1"/>
          </p:cNvSpPr>
          <p:nvPr>
            <p:ph type="title"/>
          </p:nvPr>
        </p:nvSpPr>
        <p:spPr>
          <a:xfrm>
            <a:off x="323528" y="404664"/>
            <a:ext cx="8381260" cy="1054394"/>
          </a:xfrm>
        </p:spPr>
        <p:txBody>
          <a:bodyPr/>
          <a:lstStyle/>
          <a:p>
            <a:r>
              <a:rPr lang="lt-LT" dirty="0"/>
              <a:t>Pirmosios eilĖS laisvos</a:t>
            </a: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6570" y="3393552"/>
            <a:ext cx="3299859" cy="2474894"/>
          </a:xfrm>
          <a:prstGeom prst="rect">
            <a:avLst/>
          </a:prstGeom>
        </p:spPr>
      </p:pic>
    </p:spTree>
    <p:extLst>
      <p:ext uri="{BB962C8B-B14F-4D97-AF65-F5344CB8AC3E}">
        <p14:creationId xmlns:p14="http://schemas.microsoft.com/office/powerpoint/2010/main" val="40243065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rid">
  <a:themeElements>
    <a:clrScheme name="Grid">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Grid</Template>
  <TotalTime>434</TotalTime>
  <Words>1465</Words>
  <Application>Microsoft Office PowerPoint</Application>
  <PresentationFormat>On-screen Show (4:3)</PresentationFormat>
  <Paragraphs>51</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Franklin Gothic Medium</vt:lpstr>
      <vt:lpstr>Times New Roman</vt:lpstr>
      <vt:lpstr>Wingdings</vt:lpstr>
      <vt:lpstr>Wingdings 2</vt:lpstr>
      <vt:lpstr>Grid</vt:lpstr>
      <vt:lpstr>Apie lietuvių kalbą</vt:lpstr>
      <vt:lpstr>Unikalios lietuvių kalbos gramatinės formos </vt:lpstr>
      <vt:lpstr>Lietuvių kalbos žodžių lobynas </vt:lpstr>
      <vt:lpstr>LYTI </vt:lpstr>
      <vt:lpstr>Snigti</vt:lpstr>
      <vt:lpstr>Jablonskis</vt:lpstr>
      <vt:lpstr>Jablonskis</vt:lpstr>
      <vt:lpstr>Naudinga</vt:lpstr>
      <vt:lpstr>Naudinga</vt:lpstr>
      <vt:lpstr>Kūno kalba</vt:lpstr>
      <vt:lpstr>PowerPoint Presentation</vt:lpstr>
      <vt:lpstr>Antakių pakėlimas</vt:lpstr>
      <vt:lpstr>Rankos dubenyje</vt:lpstr>
      <vt:lpstr>šypsena</vt:lpstr>
      <vt:lpstr>«Gerai» gestas</vt:lpstr>
      <vt:lpstr>Atstumas</vt:lpstr>
      <vt:lpstr>UždarUMAS</vt:lpstr>
      <vt:lpstr>Pirmosios eilĖS laisvos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Komunikacijos modeliai  Lietuvoje ir Latvijoje</dc:title>
  <dc:creator>Kristaps</dc:creator>
  <cp:lastModifiedBy>Vilma Leonavičienė</cp:lastModifiedBy>
  <cp:revision>40</cp:revision>
  <dcterms:created xsi:type="dcterms:W3CDTF">2019-02-17T21:25:15Z</dcterms:created>
  <dcterms:modified xsi:type="dcterms:W3CDTF">2026-02-24T11:00:39Z</dcterms:modified>
</cp:coreProperties>
</file>