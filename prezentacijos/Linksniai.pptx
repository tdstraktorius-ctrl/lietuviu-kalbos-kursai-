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8" r:id="rId22"/>
  </p:sldIdLst>
  <p:sldSz cx="12192000" cy="6858000"/>
  <p:notesSz cx="6858000" cy="9144000"/>
  <p:defaultTextStyle>
    <a:defPPr>
      <a:defRPr lang="lt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81CE2-BB52-4487-A304-820D02EE8159}" type="datetimeFigureOut">
              <a:rPr lang="lt-LT" smtClean="0"/>
              <a:t>2026-02-25</a:t>
            </a:fld>
            <a:endParaRPr lang="lt-L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t-L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2BBFBA-A364-48A7-9D63-DCE83FB6C03E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987860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2BBFBA-A364-48A7-9D63-DCE83FB6C03E}" type="slidenum">
              <a:rPr lang="lt-LT" smtClean="0"/>
              <a:t>20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995327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avadinimo skaidr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lt-LT"/>
              <a:t>Spustelėję redag. ruoš. pavad. stilių</a:t>
            </a:r>
          </a:p>
        </p:txBody>
      </p:sp>
      <p:sp>
        <p:nvSpPr>
          <p:cNvPr id="3" name="Antrinis pavadinima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lt-LT"/>
              <a:t>Spustelėję redag. ruoš. paantrš. stilių</a:t>
            </a:r>
          </a:p>
        </p:txBody>
      </p:sp>
      <p:sp>
        <p:nvSpPr>
          <p:cNvPr id="4" name="Datos vietos rezervavimo ženklas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2960-3B21-4419-BDBF-14C4208374E9}" type="datetimeFigureOut">
              <a:rPr lang="lt-LT" smtClean="0"/>
              <a:pPr/>
              <a:t>2026-02-25</a:t>
            </a:fld>
            <a:endParaRPr lang="lt-LT"/>
          </a:p>
        </p:txBody>
      </p:sp>
      <p:sp>
        <p:nvSpPr>
          <p:cNvPr id="5" name="Poraštės vietos rezervavimo ženklas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0CEF-9DED-4674-8F62-1C36AE25F572}" type="slidenum">
              <a:rPr lang="lt-LT" smtClean="0"/>
              <a:pPr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916870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avadinimas ir turin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redag. ruoš. pavad. stilių</a:t>
            </a:r>
          </a:p>
        </p:txBody>
      </p:sp>
      <p:sp>
        <p:nvSpPr>
          <p:cNvPr id="3" name="Turinio vietos rezervavimo ženklas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lt-LT"/>
              <a:t>Spustelėję redag. ruoš. teksto stilių</a:t>
            </a:r>
          </a:p>
          <a:p>
            <a:pPr lvl="1"/>
            <a:r>
              <a:rPr lang="lt-LT"/>
              <a:t>Antras lygmuo</a:t>
            </a:r>
          </a:p>
          <a:p>
            <a:pPr lvl="2"/>
            <a:r>
              <a:rPr lang="lt-LT"/>
              <a:t>Trečias lygmuo</a:t>
            </a:r>
          </a:p>
          <a:p>
            <a:pPr lvl="3"/>
            <a:r>
              <a:rPr lang="lt-LT"/>
              <a:t>Ketvirtas lygmuo</a:t>
            </a:r>
          </a:p>
          <a:p>
            <a:pPr lvl="4"/>
            <a:r>
              <a:rPr lang="lt-LT"/>
              <a:t>Penktas lygmuo</a:t>
            </a:r>
          </a:p>
        </p:txBody>
      </p:sp>
      <p:sp>
        <p:nvSpPr>
          <p:cNvPr id="4" name="Datos vietos rezervavimo ženklas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2960-3B21-4419-BDBF-14C4208374E9}" type="datetimeFigureOut">
              <a:rPr lang="lt-LT" smtClean="0"/>
              <a:pPr/>
              <a:t>2026-02-25</a:t>
            </a:fld>
            <a:endParaRPr lang="lt-LT"/>
          </a:p>
        </p:txBody>
      </p:sp>
      <p:sp>
        <p:nvSpPr>
          <p:cNvPr id="5" name="Poraštės vietos rezervavimo ženklas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0CEF-9DED-4674-8F62-1C36AE25F572}" type="slidenum">
              <a:rPr lang="lt-LT" smtClean="0"/>
              <a:pPr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49973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kcijos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lt-LT"/>
              <a:t>Spustelėję redag. ruoš. pavad. stilių</a:t>
            </a:r>
          </a:p>
        </p:txBody>
      </p:sp>
      <p:sp>
        <p:nvSpPr>
          <p:cNvPr id="3" name="Teksto vietos rezervavimo ženklas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lt-LT"/>
              <a:t>Spustelėję redag. ruoš. teksto stilių</a:t>
            </a:r>
          </a:p>
        </p:txBody>
      </p:sp>
      <p:sp>
        <p:nvSpPr>
          <p:cNvPr id="4" name="Datos vietos rezervavimo ženklas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2960-3B21-4419-BDBF-14C4208374E9}" type="datetimeFigureOut">
              <a:rPr lang="lt-LT" smtClean="0"/>
              <a:pPr/>
              <a:t>2026-02-25</a:t>
            </a:fld>
            <a:endParaRPr lang="lt-LT"/>
          </a:p>
        </p:txBody>
      </p:sp>
      <p:sp>
        <p:nvSpPr>
          <p:cNvPr id="5" name="Poraštės vietos rezervavimo ženklas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0CEF-9DED-4674-8F62-1C36AE25F572}" type="slidenum">
              <a:rPr lang="lt-LT" smtClean="0"/>
              <a:pPr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658262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 turin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redag. ruoš. pavad. stilių</a:t>
            </a:r>
          </a:p>
        </p:txBody>
      </p:sp>
      <p:sp>
        <p:nvSpPr>
          <p:cNvPr id="3" name="Turinio vietos rezervavimo ženklas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Spustelėję redag. ruoš. teksto stilių</a:t>
            </a:r>
          </a:p>
          <a:p>
            <a:pPr lvl="1"/>
            <a:r>
              <a:rPr lang="lt-LT"/>
              <a:t>Antras lygmuo</a:t>
            </a:r>
          </a:p>
          <a:p>
            <a:pPr lvl="2"/>
            <a:r>
              <a:rPr lang="lt-LT"/>
              <a:t>Trečias lygmuo</a:t>
            </a:r>
          </a:p>
          <a:p>
            <a:pPr lvl="3"/>
            <a:r>
              <a:rPr lang="lt-LT"/>
              <a:t>Ketvirtas lygmuo</a:t>
            </a:r>
          </a:p>
          <a:p>
            <a:pPr lvl="4"/>
            <a:r>
              <a:rPr lang="lt-LT"/>
              <a:t>Penktas lygmuo</a:t>
            </a:r>
          </a:p>
        </p:txBody>
      </p:sp>
      <p:sp>
        <p:nvSpPr>
          <p:cNvPr id="4" name="Turinio vietos rezervavimo ženklas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Spustelėję redag. ruoš. teksto stilių</a:t>
            </a:r>
          </a:p>
          <a:p>
            <a:pPr lvl="1"/>
            <a:r>
              <a:rPr lang="lt-LT"/>
              <a:t>Antras lygmuo</a:t>
            </a:r>
          </a:p>
          <a:p>
            <a:pPr lvl="2"/>
            <a:r>
              <a:rPr lang="lt-LT"/>
              <a:t>Trečias lygmuo</a:t>
            </a:r>
          </a:p>
          <a:p>
            <a:pPr lvl="3"/>
            <a:r>
              <a:rPr lang="lt-LT"/>
              <a:t>Ketvirtas lygmuo</a:t>
            </a:r>
          </a:p>
          <a:p>
            <a:pPr lvl="4"/>
            <a:r>
              <a:rPr lang="lt-LT"/>
              <a:t>Penktas lygmuo</a:t>
            </a:r>
          </a:p>
        </p:txBody>
      </p:sp>
      <p:sp>
        <p:nvSpPr>
          <p:cNvPr id="5" name="Datos vietos rezervavimo ženklas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2960-3B21-4419-BDBF-14C4208374E9}" type="datetimeFigureOut">
              <a:rPr lang="lt-LT" smtClean="0"/>
              <a:pPr/>
              <a:t>2026-02-25</a:t>
            </a:fld>
            <a:endParaRPr lang="lt-LT"/>
          </a:p>
        </p:txBody>
      </p:sp>
      <p:sp>
        <p:nvSpPr>
          <p:cNvPr id="6" name="Poraštės vietos rezervavimo ženklas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0CEF-9DED-4674-8F62-1C36AE25F572}" type="slidenum">
              <a:rPr lang="lt-LT" smtClean="0"/>
              <a:pPr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463205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Lyg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lt-LT"/>
              <a:t>Spustelėję redag. ruoš. pavad. stilių</a:t>
            </a:r>
          </a:p>
        </p:txBody>
      </p:sp>
      <p:sp>
        <p:nvSpPr>
          <p:cNvPr id="3" name="Teksto vietos rezervavimo ženklas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Spustelėję redag. ruoš. teksto stilių</a:t>
            </a:r>
          </a:p>
        </p:txBody>
      </p:sp>
      <p:sp>
        <p:nvSpPr>
          <p:cNvPr id="4" name="Turinio vietos rezervavimo ženklas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lt-LT"/>
              <a:t>Spustelėję redag. ruoš. teksto stilių</a:t>
            </a:r>
          </a:p>
          <a:p>
            <a:pPr lvl="1"/>
            <a:r>
              <a:rPr lang="lt-LT"/>
              <a:t>Antras lygmuo</a:t>
            </a:r>
          </a:p>
          <a:p>
            <a:pPr lvl="2"/>
            <a:r>
              <a:rPr lang="lt-LT"/>
              <a:t>Trečias lygmuo</a:t>
            </a:r>
          </a:p>
          <a:p>
            <a:pPr lvl="3"/>
            <a:r>
              <a:rPr lang="lt-LT"/>
              <a:t>Ketvirtas lygmuo</a:t>
            </a:r>
          </a:p>
          <a:p>
            <a:pPr lvl="4"/>
            <a:r>
              <a:rPr lang="lt-LT"/>
              <a:t>Penktas lygmuo</a:t>
            </a:r>
          </a:p>
        </p:txBody>
      </p:sp>
      <p:sp>
        <p:nvSpPr>
          <p:cNvPr id="5" name="Teksto vietos rezervavimo ženklas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Spustelėję redag. ruoš. teksto stilių</a:t>
            </a:r>
          </a:p>
        </p:txBody>
      </p:sp>
      <p:sp>
        <p:nvSpPr>
          <p:cNvPr id="6" name="Turinio vietos rezervavimo ženklas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lt-LT"/>
              <a:t>Spustelėję redag. ruoš. teksto stilių</a:t>
            </a:r>
          </a:p>
          <a:p>
            <a:pPr lvl="1"/>
            <a:r>
              <a:rPr lang="lt-LT"/>
              <a:t>Antras lygmuo</a:t>
            </a:r>
          </a:p>
          <a:p>
            <a:pPr lvl="2"/>
            <a:r>
              <a:rPr lang="lt-LT"/>
              <a:t>Trečias lygmuo</a:t>
            </a:r>
          </a:p>
          <a:p>
            <a:pPr lvl="3"/>
            <a:r>
              <a:rPr lang="lt-LT"/>
              <a:t>Ketvirtas lygmuo</a:t>
            </a:r>
          </a:p>
          <a:p>
            <a:pPr lvl="4"/>
            <a:r>
              <a:rPr lang="lt-LT"/>
              <a:t>Penktas lygmuo</a:t>
            </a:r>
          </a:p>
        </p:txBody>
      </p:sp>
      <p:sp>
        <p:nvSpPr>
          <p:cNvPr id="7" name="Datos vietos rezervavimo ženklas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2960-3B21-4419-BDBF-14C4208374E9}" type="datetimeFigureOut">
              <a:rPr lang="lt-LT" smtClean="0"/>
              <a:pPr/>
              <a:t>2026-02-25</a:t>
            </a:fld>
            <a:endParaRPr lang="lt-LT"/>
          </a:p>
        </p:txBody>
      </p:sp>
      <p:sp>
        <p:nvSpPr>
          <p:cNvPr id="8" name="Poraštės vietos rezervavimo ženklas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9" name="Skaidrės numerio vietos rezervavimo ženklas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0CEF-9DED-4674-8F62-1C36AE25F572}" type="slidenum">
              <a:rPr lang="lt-LT" smtClean="0"/>
              <a:pPr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044156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k pavad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redag. ruoš. pavad. stilių</a:t>
            </a:r>
          </a:p>
        </p:txBody>
      </p:sp>
      <p:sp>
        <p:nvSpPr>
          <p:cNvPr id="3" name="Datos vietos rezervavimo ženklas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2960-3B21-4419-BDBF-14C4208374E9}" type="datetimeFigureOut">
              <a:rPr lang="lt-LT" smtClean="0"/>
              <a:pPr/>
              <a:t>2026-02-25</a:t>
            </a:fld>
            <a:endParaRPr lang="lt-LT"/>
          </a:p>
        </p:txBody>
      </p:sp>
      <p:sp>
        <p:nvSpPr>
          <p:cNvPr id="4" name="Poraštės vietos rezervavimo ženklas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5" name="Skaidrės numerio vietos rezervavimo ženklas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0CEF-9DED-4674-8F62-1C36AE25F572}" type="slidenum">
              <a:rPr lang="lt-LT" smtClean="0"/>
              <a:pPr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812693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ušč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os vietos rezervavimo ženklas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2960-3B21-4419-BDBF-14C4208374E9}" type="datetimeFigureOut">
              <a:rPr lang="lt-LT" smtClean="0"/>
              <a:pPr/>
              <a:t>2026-02-25</a:t>
            </a:fld>
            <a:endParaRPr lang="lt-LT"/>
          </a:p>
        </p:txBody>
      </p:sp>
      <p:sp>
        <p:nvSpPr>
          <p:cNvPr id="3" name="Poraštės vietos rezervavimo ženklas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0CEF-9DED-4674-8F62-1C36AE25F572}" type="slidenum">
              <a:rPr lang="lt-LT" smtClean="0"/>
              <a:pPr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111711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uriny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redag. ruoš. pavad. stilių</a:t>
            </a:r>
          </a:p>
        </p:txBody>
      </p:sp>
      <p:sp>
        <p:nvSpPr>
          <p:cNvPr id="3" name="Turinio vietos rezervavimo ženklas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lt-LT"/>
              <a:t>Spustelėję redag. ruoš. teksto stilių</a:t>
            </a:r>
          </a:p>
          <a:p>
            <a:pPr lvl="1"/>
            <a:r>
              <a:rPr lang="lt-LT"/>
              <a:t>Antras lygmuo</a:t>
            </a:r>
          </a:p>
          <a:p>
            <a:pPr lvl="2"/>
            <a:r>
              <a:rPr lang="lt-LT"/>
              <a:t>Trečias lygmuo</a:t>
            </a:r>
          </a:p>
          <a:p>
            <a:pPr lvl="3"/>
            <a:r>
              <a:rPr lang="lt-LT"/>
              <a:t>Ketvirtas lygmuo</a:t>
            </a:r>
          </a:p>
          <a:p>
            <a:pPr lvl="4"/>
            <a:r>
              <a:rPr lang="lt-LT"/>
              <a:t>Penktas lygmuo</a:t>
            </a:r>
          </a:p>
        </p:txBody>
      </p:sp>
      <p:sp>
        <p:nvSpPr>
          <p:cNvPr id="4" name="Teksto vietos rezervavimo ženklas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Spustelėję redag. ruoš. teksto stilių</a:t>
            </a:r>
          </a:p>
        </p:txBody>
      </p:sp>
      <p:sp>
        <p:nvSpPr>
          <p:cNvPr id="5" name="Datos vietos rezervavimo ženklas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2960-3B21-4419-BDBF-14C4208374E9}" type="datetimeFigureOut">
              <a:rPr lang="lt-LT" smtClean="0"/>
              <a:pPr/>
              <a:t>2026-02-25</a:t>
            </a:fld>
            <a:endParaRPr lang="lt-LT"/>
          </a:p>
        </p:txBody>
      </p:sp>
      <p:sp>
        <p:nvSpPr>
          <p:cNvPr id="6" name="Poraštės vietos rezervavimo ženklas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0CEF-9DED-4674-8F62-1C36AE25F572}" type="slidenum">
              <a:rPr lang="lt-LT" smtClean="0"/>
              <a:pPr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566228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aveikslėli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redag. ruoš. pavad. stilių</a:t>
            </a:r>
          </a:p>
        </p:txBody>
      </p:sp>
      <p:sp>
        <p:nvSpPr>
          <p:cNvPr id="3" name="Paveikslėlio vietos rezervavimo ženklas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t-LT"/>
          </a:p>
        </p:txBody>
      </p:sp>
      <p:sp>
        <p:nvSpPr>
          <p:cNvPr id="4" name="Teksto vietos rezervavimo ženklas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Spustelėję redag. ruoš. teksto stilių</a:t>
            </a:r>
          </a:p>
        </p:txBody>
      </p:sp>
      <p:sp>
        <p:nvSpPr>
          <p:cNvPr id="5" name="Datos vietos rezervavimo ženklas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2960-3B21-4419-BDBF-14C4208374E9}" type="datetimeFigureOut">
              <a:rPr lang="lt-LT" smtClean="0"/>
              <a:pPr/>
              <a:t>2026-02-25</a:t>
            </a:fld>
            <a:endParaRPr lang="lt-LT"/>
          </a:p>
        </p:txBody>
      </p:sp>
      <p:sp>
        <p:nvSpPr>
          <p:cNvPr id="6" name="Poraštės vietos rezervavimo ženklas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0CEF-9DED-4674-8F62-1C36AE25F572}" type="slidenum">
              <a:rPr lang="lt-LT" smtClean="0"/>
              <a:pPr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869660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Pavadinimas ir vertikalus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redag. ruoš. pavad. stilių</a:t>
            </a:r>
          </a:p>
        </p:txBody>
      </p:sp>
      <p:sp>
        <p:nvSpPr>
          <p:cNvPr id="3" name="Vertikalaus teksto vietos rezervavimo ženklas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lt-LT"/>
              <a:t>Spustelėję redag. ruoš. teksto stilių</a:t>
            </a:r>
          </a:p>
          <a:p>
            <a:pPr lvl="1"/>
            <a:r>
              <a:rPr lang="lt-LT"/>
              <a:t>Antras lygmuo</a:t>
            </a:r>
          </a:p>
          <a:p>
            <a:pPr lvl="2"/>
            <a:r>
              <a:rPr lang="lt-LT"/>
              <a:t>Trečias lygmuo</a:t>
            </a:r>
          </a:p>
          <a:p>
            <a:pPr lvl="3"/>
            <a:r>
              <a:rPr lang="lt-LT"/>
              <a:t>Ketvirtas lygmuo</a:t>
            </a:r>
          </a:p>
          <a:p>
            <a:pPr lvl="4"/>
            <a:r>
              <a:rPr lang="lt-LT"/>
              <a:t>Penktas lygmuo</a:t>
            </a:r>
          </a:p>
        </p:txBody>
      </p:sp>
      <p:sp>
        <p:nvSpPr>
          <p:cNvPr id="4" name="Datos vietos rezervavimo ženklas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2960-3B21-4419-BDBF-14C4208374E9}" type="datetimeFigureOut">
              <a:rPr lang="lt-LT" smtClean="0"/>
              <a:pPr/>
              <a:t>2026-02-25</a:t>
            </a:fld>
            <a:endParaRPr lang="lt-LT"/>
          </a:p>
        </p:txBody>
      </p:sp>
      <p:sp>
        <p:nvSpPr>
          <p:cNvPr id="5" name="Poraštės vietos rezervavimo ženklas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0CEF-9DED-4674-8F62-1C36AE25F572}" type="slidenum">
              <a:rPr lang="lt-LT" smtClean="0"/>
              <a:pPr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832865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us pavadinimas ir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us pavadinima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lt-LT"/>
              <a:t>Spustelėję redag. ruoš. pavad. stilių</a:t>
            </a:r>
          </a:p>
        </p:txBody>
      </p:sp>
      <p:sp>
        <p:nvSpPr>
          <p:cNvPr id="3" name="Vertikalaus teksto vietos rezervavimo ženklas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lt-LT"/>
              <a:t>Spustelėję redag. ruoš. teksto stilių</a:t>
            </a:r>
          </a:p>
          <a:p>
            <a:pPr lvl="1"/>
            <a:r>
              <a:rPr lang="lt-LT"/>
              <a:t>Antras lygmuo</a:t>
            </a:r>
          </a:p>
          <a:p>
            <a:pPr lvl="2"/>
            <a:r>
              <a:rPr lang="lt-LT"/>
              <a:t>Trečias lygmuo</a:t>
            </a:r>
          </a:p>
          <a:p>
            <a:pPr lvl="3"/>
            <a:r>
              <a:rPr lang="lt-LT"/>
              <a:t>Ketvirtas lygmuo</a:t>
            </a:r>
          </a:p>
          <a:p>
            <a:pPr lvl="4"/>
            <a:r>
              <a:rPr lang="lt-LT"/>
              <a:t>Penktas lygmuo</a:t>
            </a:r>
          </a:p>
        </p:txBody>
      </p:sp>
      <p:sp>
        <p:nvSpPr>
          <p:cNvPr id="4" name="Datos vietos rezervavimo ženklas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2960-3B21-4419-BDBF-14C4208374E9}" type="datetimeFigureOut">
              <a:rPr lang="lt-LT" smtClean="0"/>
              <a:pPr/>
              <a:t>2026-02-25</a:t>
            </a:fld>
            <a:endParaRPr lang="lt-LT"/>
          </a:p>
        </p:txBody>
      </p:sp>
      <p:sp>
        <p:nvSpPr>
          <p:cNvPr id="5" name="Poraštės vietos rezervavimo ženklas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0CEF-9DED-4674-8F62-1C36AE25F572}" type="slidenum">
              <a:rPr lang="lt-LT" smtClean="0"/>
              <a:pPr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195626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o vietos rezervavimo ženkla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lt-LT"/>
              <a:t>Spustelėję redag. ruoš. pavad. stilių</a:t>
            </a:r>
          </a:p>
        </p:txBody>
      </p:sp>
      <p:sp>
        <p:nvSpPr>
          <p:cNvPr id="3" name="Teksto vietos rezervavimo ženklas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lt-LT"/>
              <a:t>Spustelėję redag. ruoš. teksto stilių</a:t>
            </a:r>
          </a:p>
          <a:p>
            <a:pPr lvl="1"/>
            <a:r>
              <a:rPr lang="lt-LT"/>
              <a:t>Antras lygmuo</a:t>
            </a:r>
          </a:p>
          <a:p>
            <a:pPr lvl="2"/>
            <a:r>
              <a:rPr lang="lt-LT"/>
              <a:t>Trečias lygmuo</a:t>
            </a:r>
          </a:p>
          <a:p>
            <a:pPr lvl="3"/>
            <a:r>
              <a:rPr lang="lt-LT"/>
              <a:t>Ketvirtas lygmuo</a:t>
            </a:r>
          </a:p>
          <a:p>
            <a:pPr lvl="4"/>
            <a:r>
              <a:rPr lang="lt-LT"/>
              <a:t>Penktas lygmuo</a:t>
            </a:r>
          </a:p>
        </p:txBody>
      </p:sp>
      <p:sp>
        <p:nvSpPr>
          <p:cNvPr id="4" name="Datos vietos rezervavimo ženklas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D2960-3B21-4419-BDBF-14C4208374E9}" type="datetimeFigureOut">
              <a:rPr lang="lt-LT" smtClean="0"/>
              <a:pPr/>
              <a:t>2026-02-25</a:t>
            </a:fld>
            <a:endParaRPr lang="lt-LT"/>
          </a:p>
        </p:txBody>
      </p:sp>
      <p:sp>
        <p:nvSpPr>
          <p:cNvPr id="5" name="Poraštės vietos rezervavimo ženklas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t-LT"/>
          </a:p>
        </p:txBody>
      </p:sp>
      <p:sp>
        <p:nvSpPr>
          <p:cNvPr id="6" name="Skaidrės numerio vietos rezervavimo ženklas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B0CEF-9DED-4674-8F62-1C36AE25F572}" type="slidenum">
              <a:rPr lang="lt-LT" smtClean="0"/>
              <a:pPr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659524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ctrTitle"/>
          </p:nvPr>
        </p:nvSpPr>
        <p:spPr>
          <a:xfrm>
            <a:off x="1686838" y="3435927"/>
            <a:ext cx="9144000" cy="1985818"/>
          </a:xfrm>
        </p:spPr>
        <p:txBody>
          <a:bodyPr>
            <a:normAutofit fontScale="90000"/>
          </a:bodyPr>
          <a:lstStyle/>
          <a:p>
            <a:r>
              <a:rPr lang="lt-LT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Kalbos praktikos problemos: keblesnieji linksnių vartojimo atvejai</a:t>
            </a:r>
            <a:br>
              <a:rPr lang="lt-L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lt-L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lt-LT" sz="3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Antrinis pavadinimas 2"/>
          <p:cNvSpPr>
            <a:spLocks noGrp="1"/>
          </p:cNvSpPr>
          <p:nvPr>
            <p:ph type="subTitle" idx="1"/>
          </p:nvPr>
        </p:nvSpPr>
        <p:spPr>
          <a:xfrm>
            <a:off x="1787046" y="5938981"/>
            <a:ext cx="9144000" cy="588427"/>
          </a:xfrm>
        </p:spPr>
        <p:txBody>
          <a:bodyPr>
            <a:normAutofit/>
          </a:bodyPr>
          <a:lstStyle/>
          <a:p>
            <a:pPr algn="r"/>
            <a:r>
              <a:rPr lang="lt-LT" dirty="0">
                <a:latin typeface="Times New Roman" pitchFamily="18" charset="0"/>
                <a:cs typeface="Times New Roman" pitchFamily="18" charset="0"/>
              </a:rPr>
              <a:t>Vilma Leonavičienė</a:t>
            </a:r>
          </a:p>
        </p:txBody>
      </p:sp>
    </p:spTree>
    <p:extLst>
      <p:ext uri="{BB962C8B-B14F-4D97-AF65-F5344CB8AC3E}">
        <p14:creationId xmlns:p14="http://schemas.microsoft.com/office/powerpoint/2010/main" val="269651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37346"/>
          </a:xfrm>
        </p:spPr>
        <p:txBody>
          <a:bodyPr>
            <a:normAutofit/>
          </a:bodyPr>
          <a:lstStyle/>
          <a:p>
            <a:r>
              <a:rPr lang="lt-L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Linksnių vartojimo klaidos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198255"/>
            <a:ext cx="9144000" cy="4211781"/>
          </a:xfrm>
        </p:spPr>
        <p:txBody>
          <a:bodyPr>
            <a:normAutofit/>
          </a:bodyPr>
          <a:lstStyle/>
          <a:p>
            <a:endParaRPr lang="lt-L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lt-L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lt-L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lt-L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valdymo klaidos        reikšmių painiojimo klaidos</a:t>
            </a:r>
          </a:p>
          <a:p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(atstovauti universitetą) (knygą skaičiau originalo kalboje)</a:t>
            </a:r>
          </a:p>
          <a:p>
            <a:r>
              <a:rPr lang="lt-LT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(atstovauti kam?)              (knygą originalo kalba) </a:t>
            </a:r>
          </a:p>
          <a:p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/>
          <p:cNvCxnSpPr>
            <a:stCxn id="3" idx="0"/>
          </p:cNvCxnSpPr>
          <p:nvPr/>
        </p:nvCxnSpPr>
        <p:spPr>
          <a:xfrm flipH="1">
            <a:off x="4036291" y="2198255"/>
            <a:ext cx="2059709" cy="1440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3" idx="0"/>
          </p:cNvCxnSpPr>
          <p:nvPr/>
        </p:nvCxnSpPr>
        <p:spPr>
          <a:xfrm>
            <a:off x="6096000" y="2198255"/>
            <a:ext cx="1930400" cy="1366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669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11201"/>
            <a:ext cx="9144000" cy="554181"/>
          </a:xfrm>
        </p:spPr>
        <p:txBody>
          <a:bodyPr>
            <a:noAutofit/>
          </a:bodyPr>
          <a:lstStyle/>
          <a:p>
            <a:r>
              <a:rPr lang="lt-L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Vardininko vartojimas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385454"/>
            <a:ext cx="9144000" cy="4664363"/>
          </a:xfrm>
        </p:spPr>
        <p:txBody>
          <a:bodyPr>
            <a:noAutofit/>
          </a:bodyPr>
          <a:lstStyle/>
          <a:p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Vardininkas netinka </a:t>
            </a:r>
            <a:r>
              <a:rPr lang="lt-L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neapibrėžtam daiktų kiekiui 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reikšti su</a:t>
            </a:r>
          </a:p>
          <a:p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žodžiais </a:t>
            </a:r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atsirasti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būti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daugėti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kilti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pasitaikyti 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kt. Jį reikia keisti </a:t>
            </a:r>
            <a:r>
              <a:rPr lang="lt-L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dalies</a:t>
            </a:r>
          </a:p>
          <a:p>
            <a:r>
              <a:rPr lang="lt-L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kilmininku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žyminčiu visumos dalį, pvz.: 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Perkaitus saulėje, atsiranda karščiavimo požymiai (= požymių).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Tarp darbuotojų dažnai būna nesusipratimai (= nesusipratimų). 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 paskaitos dažnai iškyla v i s o k i e klausimai (= visokių klausimų)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63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43345"/>
            <a:ext cx="9144000" cy="720437"/>
          </a:xfrm>
        </p:spPr>
        <p:txBody>
          <a:bodyPr>
            <a:normAutofit/>
          </a:bodyPr>
          <a:lstStyle/>
          <a:p>
            <a:r>
              <a:rPr lang="lt-L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Kilmininko vartojimas (1)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616364"/>
            <a:ext cx="9144000" cy="4849091"/>
          </a:xfrm>
        </p:spPr>
        <p:txBody>
          <a:bodyPr>
            <a:noAutofit/>
          </a:bodyPr>
          <a:lstStyle/>
          <a:p>
            <a:r>
              <a:rPr lang="fi-FI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Dažniausiai kilmininko klaidų randasi, kai jis vartojamas </a:t>
            </a:r>
            <a:r>
              <a:rPr lang="fi-FI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</a:t>
            </a:r>
          </a:p>
          <a:p>
            <a:r>
              <a:rPr lang="lt-L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veiksmažodžiais, reikalaujančiais kito linksnio ar prielinksninės</a:t>
            </a:r>
          </a:p>
          <a:p>
            <a:r>
              <a:rPr lang="lt-L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konstrukcijos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Gana dažnos klaidos su šiais veiksmažodžiais: </a:t>
            </a:r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prieiti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Mokslininkai priėjo bendros išvados (= bendrą išvadą, prie bendros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išvados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pasiekti 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(reikšme „pasiekti tam tikrą ribą“): 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Pagaliau pasiekėme v i sk o (= viską), ko norėjome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01924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60219"/>
            <a:ext cx="9144000" cy="812800"/>
          </a:xfrm>
        </p:spPr>
        <p:txBody>
          <a:bodyPr>
            <a:normAutofit/>
          </a:bodyPr>
          <a:lstStyle/>
          <a:p>
            <a:r>
              <a:rPr lang="lt-L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Kilmininko vartojimas (2)</a:t>
            </a:r>
            <a:endParaRPr lang="en-US" sz="3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514764"/>
            <a:ext cx="9144000" cy="4793672"/>
          </a:xfrm>
        </p:spPr>
        <p:txBody>
          <a:bodyPr>
            <a:noAutofit/>
          </a:bodyPr>
          <a:lstStyle/>
          <a:p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negalima painioti su veiksmažodžio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siekti 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reikšme „stengtis laimėti“, kuris reikalauja kilmininko ir vartojamas taisyklingai: 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Jis siekė savo t i k s l o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Veiksmažodis </a:t>
            </a:r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reikalauti 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taip pat </a:t>
            </a:r>
            <a:r>
              <a:rPr lang="fi-FI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turi kelias reikšmes, kurių viena su kilmininku nevartojama. Kilmininkas</a:t>
            </a:r>
          </a:p>
          <a:p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netinka vartoti, kai reikalaujama ko nors iš asmens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pvz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.: </a:t>
            </a:r>
            <a:endParaRPr lang="lt-LT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reikalavo</a:t>
            </a:r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 i r e k t o r i a u s (= iš direktoriaus), kad išspręstų šį klausimą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544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04801"/>
            <a:ext cx="9144000" cy="822035"/>
          </a:xfrm>
        </p:spPr>
        <p:txBody>
          <a:bodyPr>
            <a:normAutofit/>
          </a:bodyPr>
          <a:lstStyle/>
          <a:p>
            <a:r>
              <a:rPr lang="lt-L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Kilmininko vartojimas (3)</a:t>
            </a:r>
            <a:endParaRPr lang="en-US" sz="3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209964"/>
            <a:ext cx="9144000" cy="5384800"/>
          </a:xfrm>
        </p:spPr>
        <p:txBody>
          <a:bodyPr>
            <a:noAutofit/>
          </a:bodyPr>
          <a:lstStyle/>
          <a:p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Kilmininkas netinka </a:t>
            </a:r>
            <a:r>
              <a:rPr lang="lt-L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lyginimui 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reikšti su prieveiksmiais </a:t>
            </a:r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(ne)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daugiau, (ne) mažiau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Šie prieveiksmiai reikalauja prielinksninių konstrukcijų, pvz.: 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Salėje susirinko daugiau šimto (= daugiau negu (nei);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daugiau kaip šimtas) žmonių. </a:t>
            </a:r>
          </a:p>
          <a:p>
            <a:endParaRPr lang="lt-LT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Reikia surinkti n e mažiau dešimties b a l ų (= ne mažiau negu (nei); ne mažiau kaip dešimt balų)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6958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28073"/>
            <a:ext cx="9144000" cy="581891"/>
          </a:xfrm>
        </p:spPr>
        <p:txBody>
          <a:bodyPr>
            <a:noAutofit/>
          </a:bodyPr>
          <a:lstStyle/>
          <a:p>
            <a:r>
              <a:rPr lang="lt-L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Naudininko vartojimas (1)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662545"/>
            <a:ext cx="9144000" cy="4701310"/>
          </a:xfrm>
        </p:spPr>
        <p:txBody>
          <a:bodyPr>
            <a:noAutofit/>
          </a:bodyPr>
          <a:lstStyle/>
          <a:p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Naudininko geriau nevartoti </a:t>
            </a:r>
            <a:r>
              <a:rPr lang="lt-L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 jo nereikalaujančiais žodžiais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lt-L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 veiksmažodžiais </a:t>
            </a:r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atitikti, kreipti dėmesį, kviesti, linkti, piktintis, vertinti 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kt., pvz.: 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 daugiau dėmesio kreipiame sveikatai</a:t>
            </a:r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(= į sveikatą). Kviečiu a r b a t a i (= arbatos). </a:t>
            </a:r>
            <a:endParaRPr lang="lt-LT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Jis linkęs t i k s l i e s i ems</a:t>
            </a:r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mokslams (= į tiksliuosius mokslus)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852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5491"/>
            <a:ext cx="9144000" cy="1016000"/>
          </a:xfrm>
        </p:spPr>
        <p:txBody>
          <a:bodyPr>
            <a:normAutofit/>
          </a:bodyPr>
          <a:lstStyle/>
          <a:p>
            <a:r>
              <a:rPr lang="lt-L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Naudininko vartojimas (2)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8145" y="1357745"/>
            <a:ext cx="9919855" cy="5190837"/>
          </a:xfrm>
        </p:spPr>
        <p:txBody>
          <a:bodyPr>
            <a:noAutofit/>
          </a:bodyPr>
          <a:lstStyle/>
          <a:p>
            <a:r>
              <a:rPr lang="lt-L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 būdvardžiais:</a:t>
            </a:r>
          </a:p>
          <a:p>
            <a:r>
              <a:rPr lang="lt-L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godus, lygiagretus, šykštus </a:t>
            </a:r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kt., pvz.: </a:t>
            </a:r>
          </a:p>
          <a:p>
            <a:r>
              <a:rPr lang="lt-L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Jis godus t u r t u i (– turto)</a:t>
            </a:r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lt-L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Parlamentas</a:t>
            </a:r>
          </a:p>
          <a:p>
            <a:r>
              <a:rPr lang="lt-L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taikos sutartį ratifikuos trimis etapais, lygiagrečiai nusiginklavimo procesui</a:t>
            </a:r>
          </a:p>
          <a:p>
            <a:r>
              <a:rPr lang="lt-L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(– su nusiginklavimo procesu). Tėvas šykštus pinigams (– pinigų)</a:t>
            </a:r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 su veiksmažodinės kilmės daiktavardžiais vartojamas naudininkas ne klaida.</a:t>
            </a:r>
          </a:p>
          <a:p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Jis sinonimiškas kilmininkui ar kilmininkui su prielinksniu, taigi vartojamas</a:t>
            </a:r>
          </a:p>
          <a:p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arba kilmininkas, arba naudininkas, pvz., </a:t>
            </a:r>
            <a:r>
              <a:rPr lang="lt-L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Nuolaida šiems baldams</a:t>
            </a:r>
          </a:p>
          <a:p>
            <a:r>
              <a:rPr lang="lt-L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(šių baldų nuolaida) – 15 procentų</a:t>
            </a:r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9585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52582"/>
            <a:ext cx="9144000" cy="748145"/>
          </a:xfrm>
        </p:spPr>
        <p:txBody>
          <a:bodyPr>
            <a:normAutofit/>
          </a:bodyPr>
          <a:lstStyle/>
          <a:p>
            <a:r>
              <a:rPr lang="lt-L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Naudininko </a:t>
            </a:r>
            <a:r>
              <a:rPr lang="lt-LT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vartojimas (3)</a:t>
            </a:r>
            <a:endParaRPr lang="en-US" sz="3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274618"/>
            <a:ext cx="9144000" cy="5375564"/>
          </a:xfrm>
        </p:spPr>
        <p:txBody>
          <a:bodyPr>
            <a:noAutofit/>
          </a:bodyPr>
          <a:lstStyle/>
          <a:p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Labai plinta abstrakčiųjų daiktavardžių </a:t>
            </a:r>
            <a:r>
              <a:rPr lang="lt-L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paskirties naudininkas</a:t>
            </a:r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kurį būtų galima keisti</a:t>
            </a:r>
          </a:p>
          <a:p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bendratimi, pvz., </a:t>
            </a:r>
          </a:p>
          <a:p>
            <a:r>
              <a:rPr lang="lt-L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Dėžė skirta įrankių laikymui (– įrankiams laikyti)</a:t>
            </a:r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lt-L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Laiškai</a:t>
            </a:r>
          </a:p>
          <a:p>
            <a:r>
              <a:rPr lang="lt-L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paruošti siuntimui (– siųsti). Prekės skirtos pardavimui (– parduoti)</a:t>
            </a:r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lt-L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Telefonas pasiteiravimui </a:t>
            </a:r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lt-L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pasiteirauti</a:t>
            </a:r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r>
              <a:rPr lang="lt-L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Nusipirkau spintą drabužiams (– drabužių spintą.</a:t>
            </a:r>
          </a:p>
          <a:p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Tokie pasakymai daro kalbą kanceliarišką ir nebūdingi lietuvių</a:t>
            </a:r>
          </a:p>
          <a:p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kalbai. Ne visai taisyklingai pasakomi ir pareigybių pavadinimai, pvz.,</a:t>
            </a:r>
          </a:p>
          <a:p>
            <a:r>
              <a:rPr lang="lt-L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Paskirtas naujas direktorius komercijai (= komercijos direktorius</a:t>
            </a:r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lt-L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Perrinktas universiteto prodekanas mokslo reikalams (= mokslo reikalų</a:t>
            </a:r>
          </a:p>
          <a:p>
            <a:r>
              <a:rPr lang="lt-L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prodekanas).</a:t>
            </a:r>
          </a:p>
          <a:p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 </a:t>
            </a:r>
            <a:r>
              <a:rPr lang="lt-L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preziento atstovas spaudai </a:t>
            </a:r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taisyklinga.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804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77091"/>
            <a:ext cx="9144000" cy="868218"/>
          </a:xfrm>
        </p:spPr>
        <p:txBody>
          <a:bodyPr>
            <a:normAutofit/>
          </a:bodyPr>
          <a:lstStyle/>
          <a:p>
            <a:r>
              <a:rPr lang="lt-L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Galininko vartojimas (1)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330036"/>
            <a:ext cx="9144000" cy="5172364"/>
          </a:xfrm>
        </p:spPr>
        <p:txBody>
          <a:bodyPr>
            <a:normAutofit/>
          </a:bodyPr>
          <a:lstStyle/>
          <a:p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Galininkas nevartojamas </a:t>
            </a:r>
            <a:r>
              <a:rPr lang="lt-L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 kai kuriais veiksmažodžiais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kurie iš tikrųjų reikalauja kilmininko, naudininko arba įnagininko.</a:t>
            </a:r>
          </a:p>
          <a:p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 negalima vartoti su šiais veiksmažodžiais: </a:t>
            </a:r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atstovauti, ieškoti, laukti, kenkti, reikalauti, 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reikiamybės dalyviais: </a:t>
            </a:r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nešinas, vedinas 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kt., pvz.: 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Mūsų komanda atstovavo Lietuvą (= Lietuvai).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Alkoholis ilgainiui gali pakenkti s v e i k a t ą (= sveikatai).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Nusikaltėlis paspruko nešinas lagaminą (= lagaminu).</a:t>
            </a:r>
            <a:endParaRPr lang="lt-LT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237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14036"/>
            <a:ext cx="9144000" cy="831273"/>
          </a:xfrm>
        </p:spPr>
        <p:txBody>
          <a:bodyPr>
            <a:normAutofit/>
          </a:bodyPr>
          <a:lstStyle/>
          <a:p>
            <a:r>
              <a:rPr lang="lt-L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Galininko vartojimas (2)</a:t>
            </a:r>
            <a:endParaRPr lang="en-US" sz="3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366981"/>
            <a:ext cx="9144000" cy="5273963"/>
          </a:xfrm>
        </p:spPr>
        <p:txBody>
          <a:bodyPr>
            <a:normAutofit/>
          </a:bodyPr>
          <a:lstStyle/>
          <a:p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Galininkas nevartojamas </a:t>
            </a:r>
            <a:r>
              <a:rPr lang="lt-L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neapibrėžtam kiekiui ar daliai 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žymėti.</a:t>
            </a:r>
          </a:p>
          <a:p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Čia reikalingas dalies kilmininkas: 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Šiose varžybose žaidėjai pasiekė didelius laimėjimus (= didelių laimėjimų). 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Darbuotojai buvo pavesta</a:t>
            </a:r>
          </a:p>
          <a:p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nupirkti ka n c e l i a r i n e s p r e k e s (= kanceliarinių prekių) biurui.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579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66255"/>
            <a:ext cx="9144000" cy="1006763"/>
          </a:xfrm>
        </p:spPr>
        <p:txBody>
          <a:bodyPr>
            <a:normAutofit/>
          </a:bodyPr>
          <a:lstStyle/>
          <a:p>
            <a:r>
              <a:rPr lang="lt-L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Galininko vartojimas (3)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403927"/>
            <a:ext cx="9144000" cy="5006109"/>
          </a:xfrm>
        </p:spPr>
        <p:txBody>
          <a:bodyPr>
            <a:normAutofit/>
          </a:bodyPr>
          <a:lstStyle/>
          <a:p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Galininkas nevartojamas su judėjimo ir slinksties veiksmažodžiais. Tokiu atveju jis keičiamas kilmininku, pvz.: </a:t>
            </a:r>
          </a:p>
          <a:p>
            <a:endParaRPr lang="lt-LT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Eismo policijos brigada atvyko a p ž i ū r ė t i  a v a r i j ą (= avarijos apžiūrėti)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Kolektyvas rinkosi sveikinti bendradarbį (= bendradarbio) jubiliejaus proga.</a:t>
            </a:r>
          </a:p>
        </p:txBody>
      </p:sp>
    </p:spTree>
    <p:extLst>
      <p:ext uri="{BB962C8B-B14F-4D97-AF65-F5344CB8AC3E}">
        <p14:creationId xmlns:p14="http://schemas.microsoft.com/office/powerpoint/2010/main" val="751554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71055"/>
            <a:ext cx="9144000" cy="701963"/>
          </a:xfrm>
        </p:spPr>
        <p:txBody>
          <a:bodyPr>
            <a:normAutofit/>
          </a:bodyPr>
          <a:lstStyle/>
          <a:p>
            <a:r>
              <a:rPr lang="lt-L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Įnagininko vartojimas (1)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339273"/>
            <a:ext cx="9144000" cy="5098472"/>
          </a:xfrm>
        </p:spPr>
        <p:txBody>
          <a:bodyPr/>
          <a:lstStyle/>
          <a:p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Įnagininkas nevartojamas su:</a:t>
            </a:r>
          </a:p>
          <a:p>
            <a:r>
              <a:rPr lang="lt-L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pilnį reiškiančiais veiksmažodžiais </a:t>
            </a:r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lt-L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pripildyti, prikrauti</a:t>
            </a:r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lt-L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gausėti, prisotinti, (pra)turtėti, (pra)turtinti </a:t>
            </a:r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kt.):</a:t>
            </a:r>
          </a:p>
          <a:p>
            <a:r>
              <a:rPr lang="lt-L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Molinį indą reikėjo pripildyti vandeniu (= vandens)</a:t>
            </a:r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lt-L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Maistas praturtintas vitaminais ir mineralais</a:t>
            </a:r>
          </a:p>
          <a:p>
            <a:r>
              <a:rPr lang="lt-L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(= turtingas vitaminų ir mineralų; papildytas vitaminais ir mineralais</a:t>
            </a:r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Kokybei reikšti įnagininkas nevartojamas su </a:t>
            </a:r>
            <a:r>
              <a:rPr lang="lt-L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būdvardžiais </a:t>
            </a:r>
            <a:r>
              <a:rPr lang="lt-LT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dosnus, gausus,</a:t>
            </a:r>
          </a:p>
          <a:p>
            <a:r>
              <a:rPr lang="lt-LT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sotus, turtingas</a:t>
            </a:r>
            <a:r>
              <a:rPr lang="lt-L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kt. Tokiu atveju įnagininkas keičiamas kilmininku,</a:t>
            </a:r>
          </a:p>
          <a:p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pvz.: </a:t>
            </a:r>
            <a:r>
              <a:rPr lang="lt-L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Politikai prieš rinkimus visada dosnūs pažadais (= pažadų).</a:t>
            </a:r>
            <a:endParaRPr lang="lt-L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06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1674"/>
            <a:ext cx="9144000" cy="812800"/>
          </a:xfrm>
        </p:spPr>
        <p:txBody>
          <a:bodyPr>
            <a:normAutofit/>
          </a:bodyPr>
          <a:lstStyle/>
          <a:p>
            <a:r>
              <a:rPr lang="lt-L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Įnagininko vartojimas (2)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385455"/>
            <a:ext cx="9144000" cy="5218545"/>
          </a:xfrm>
        </p:spPr>
        <p:txBody>
          <a:bodyPr>
            <a:normAutofit/>
          </a:bodyPr>
          <a:lstStyle/>
          <a:p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Lietuvių kalbai nebūdingos įnagininko konstrukcijos </a:t>
            </a:r>
            <a:r>
              <a:rPr lang="lt-L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 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tokiais</a:t>
            </a:r>
          </a:p>
          <a:p>
            <a:r>
              <a:rPr lang="lt-L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būdvardžiais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nusakančiais kokybę: </a:t>
            </a:r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blogas, geras, didelis, mažas, silpnas, stiprus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pvz.: 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Jis nėra blogas savo e l g e s i u (= nėra blogo elgesio). Jis pakankamai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didelis savo ū g iu (= jo ūgis pakankamai didelis; jis pakankamai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didelio ūgio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Moteris dar stipri savo s v e i k a t a (= stiprios sveikatos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518039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2437"/>
            <a:ext cx="9144000" cy="905164"/>
          </a:xfrm>
        </p:spPr>
        <p:txBody>
          <a:bodyPr>
            <a:normAutofit/>
          </a:bodyPr>
          <a:lstStyle/>
          <a:p>
            <a:r>
              <a:rPr lang="lt-L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Įnagininko vartojimas (3)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773382"/>
            <a:ext cx="9144000" cy="4996872"/>
          </a:xfrm>
        </p:spPr>
        <p:txBody>
          <a:bodyPr>
            <a:normAutofit/>
          </a:bodyPr>
          <a:lstStyle/>
          <a:p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Įnagininkas vengtinas </a:t>
            </a:r>
            <a:r>
              <a:rPr lang="lt-L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nuolatiniam, nekintamam būviui</a:t>
            </a:r>
          </a:p>
          <a:p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reikšti, ypač su veiksmažodžio </a:t>
            </a:r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būti 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formomis, pvz.: 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Jis buvo mokytoju (– mokytojas). 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Jis visą gyvenimą buvo gydytoju (– gydytojas)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taip pat su žodžiais </a:t>
            </a:r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likti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rodyti 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atrodyti, rodytis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pvz.: 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Jis liko n a š l i u (– našlys).</a:t>
            </a:r>
            <a:endParaRPr lang="lt-L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54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59345" y="101600"/>
            <a:ext cx="9144000" cy="489527"/>
          </a:xfrm>
        </p:spPr>
        <p:txBody>
          <a:bodyPr>
            <a:normAutofit fontScale="90000"/>
          </a:bodyPr>
          <a:lstStyle/>
          <a:p>
            <a:r>
              <a:rPr lang="lt-L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Vietininko vartojimas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729673"/>
            <a:ext cx="9144000" cy="6128327"/>
          </a:xfrm>
        </p:spPr>
        <p:txBody>
          <a:bodyPr>
            <a:noAutofit/>
          </a:bodyPr>
          <a:lstStyle/>
          <a:p>
            <a:r>
              <a:rPr lang="lt-L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Vietininkas nevartojamas </a:t>
            </a:r>
            <a:r>
              <a:rPr lang="lt-L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būdui </a:t>
            </a:r>
            <a:r>
              <a:rPr lang="lt-L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reikšti su sustabarėjusiais verstiniais posakiais:</a:t>
            </a:r>
          </a:p>
          <a:p>
            <a:r>
              <a:rPr lang="lt-L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esmėje, visumoje: </a:t>
            </a:r>
            <a:r>
              <a:rPr lang="lt-LT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Astrologija savo e s m ė j e (visumoje) (= iš esmės (apskritai)) nėra rimtas mokslas;</a:t>
            </a:r>
          </a:p>
          <a:p>
            <a:r>
              <a:rPr lang="lt-L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pagrinde: </a:t>
            </a:r>
            <a:r>
              <a:rPr lang="lt-LT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Mūsų grupė pagrinde (= iš esmės, apskritai) ir paruošė šventę;</a:t>
            </a:r>
          </a:p>
          <a:p>
            <a:r>
              <a:rPr lang="lt-L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paskutinėje eilėje </a:t>
            </a:r>
            <a:r>
              <a:rPr lang="lt-LT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(= paskutinį; paskiausia; pabaigoje), </a:t>
            </a:r>
          </a:p>
          <a:p>
            <a:r>
              <a:rPr lang="lt-L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Pirmoje eilėje </a:t>
            </a:r>
            <a:r>
              <a:rPr lang="lt-LT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(= pirmiausia; pradžioje): P irmoje (paskutinėje) e i l ė j e (=</a:t>
            </a:r>
          </a:p>
          <a:p>
            <a:r>
              <a:rPr lang="lt-LT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pirmiausia; paskiausia) reikia užpildyti anketą;</a:t>
            </a:r>
          </a:p>
          <a:p>
            <a:r>
              <a:rPr lang="lt-L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pilnumoje </a:t>
            </a:r>
            <a:r>
              <a:rPr lang="lt-LT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(= visai; visiškai; iki galo): Užduotis per egzaminą išsprendžiau pilnumoje (= iki galo; visas).</a:t>
            </a:r>
          </a:p>
          <a:p>
            <a:r>
              <a:rPr lang="lt-L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lt-L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Vietininkas ne visada tinka </a:t>
            </a:r>
            <a:r>
              <a:rPr lang="lt-L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būviui</a:t>
            </a:r>
            <a:r>
              <a:rPr lang="lt-L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lt-L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būsenai</a:t>
            </a:r>
            <a:r>
              <a:rPr lang="lt-L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lt-L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požymiui </a:t>
            </a:r>
            <a:r>
              <a:rPr lang="lt-L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reikšti</a:t>
            </a:r>
          </a:p>
          <a:p>
            <a:r>
              <a:rPr lang="lt-L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 šiais žodžiais:</a:t>
            </a:r>
          </a:p>
          <a:p>
            <a:r>
              <a:rPr lang="lt-L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apimtyje: </a:t>
            </a:r>
            <a:r>
              <a:rPr lang="lt-LT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Apklausa atlikta mažoje apimtyje (= atlikta mažos apimties apklausa);</a:t>
            </a:r>
          </a:p>
          <a:p>
            <a:r>
              <a:rPr lang="lt-L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atstume: </a:t>
            </a:r>
            <a:r>
              <a:rPr lang="lt-LT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Penkių metrų a t s tume (= atstumu) rastas gulintis žmogus;</a:t>
            </a:r>
          </a:p>
          <a:p>
            <a:r>
              <a:rPr lang="lt-L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aukštumoje: </a:t>
            </a:r>
            <a:r>
              <a:rPr lang="lt-LT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Ilgą laiką Lietuvos literatūros kritika s tovėjo aukštumoje</a:t>
            </a:r>
          </a:p>
          <a:p>
            <a:r>
              <a:rPr lang="lt-LT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(= buvo aukšto lygio), o dabar ji lyg prarado pusiausvyrą.</a:t>
            </a:r>
          </a:p>
          <a:p>
            <a:r>
              <a:rPr lang="lt-L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būklėje: </a:t>
            </a:r>
            <a:r>
              <a:rPr lang="lt-LT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Ligonis atvežtas su n k i o j e b ū k l ė j e (= sunkios būklės).</a:t>
            </a:r>
            <a:endParaRPr lang="lt-L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886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8546"/>
            <a:ext cx="9144000" cy="757382"/>
          </a:xfrm>
        </p:spPr>
        <p:txBody>
          <a:bodyPr>
            <a:normAutofit/>
          </a:bodyPr>
          <a:lstStyle/>
          <a:p>
            <a:r>
              <a:rPr lang="lt-L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Dvejybinių linksnių vartojimas (1)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034473"/>
            <a:ext cx="9144000" cy="5671127"/>
          </a:xfrm>
        </p:spPr>
        <p:txBody>
          <a:bodyPr>
            <a:noAutofit/>
          </a:bodyPr>
          <a:lstStyle/>
          <a:p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Dvejybiniai linksniai lietuvių kalbai būdingi nuo seno. Tačiau</a:t>
            </a:r>
          </a:p>
          <a:p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dėl kitų kalbų įtakos šie linksniai nyksta, nebemokama jų vartoti, jie suplakami į vieną linksnį – įnagininką.</a:t>
            </a:r>
          </a:p>
          <a:p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Dvejybiniai linksniai sudaryti iš dviejų tarpusavyje suderintų dėmenų:</a:t>
            </a:r>
          </a:p>
          <a:p>
            <a:r>
              <a:rPr lang="lt-L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daiktavardžio ir </a:t>
            </a:r>
          </a:p>
          <a:p>
            <a:r>
              <a:rPr lang="lt-L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būdvardžio ar būdvardiškojo žodžio 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(dalyvio,</a:t>
            </a:r>
          </a:p>
          <a:p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būdvardiškojo skaitvardžio ar įvardžio), kuris neina derinamuoju pažyminiu,</a:t>
            </a:r>
          </a:p>
          <a:p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papildo tarinį ir kartu būtinai derinamas su daiktavardžiu, pvz.: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Žmogelis atrodė linksmas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lt-L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511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0073"/>
            <a:ext cx="9144000" cy="1006763"/>
          </a:xfrm>
        </p:spPr>
        <p:txBody>
          <a:bodyPr>
            <a:normAutofit/>
          </a:bodyPr>
          <a:lstStyle/>
          <a:p>
            <a:r>
              <a:rPr lang="lt-L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Dvejybinių linksnių </a:t>
            </a:r>
            <a:r>
              <a:rPr lang="lt-LT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vartojimas (2)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200727"/>
            <a:ext cx="9144000" cy="5310909"/>
          </a:xfrm>
        </p:spPr>
        <p:txBody>
          <a:bodyPr>
            <a:normAutofit/>
          </a:bodyPr>
          <a:lstStyle/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Jis pasikeitė: tapo ramiu, t v a r k i n g u ir mandagiu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(= ramus, tvarkingas ir mandagus);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Visos šios privilegijos nedaro gyvenimo sudėtingesniu 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sudėtingesnio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Jam reikėjo būti mandagesniu (= mandagesniam) su tėvais;</a:t>
            </a:r>
          </a:p>
          <a:p>
            <a:endParaRPr lang="lt-LT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Kelininkai įspėja vairuotojus būti atidesniais (= atidesnius).</a:t>
            </a:r>
          </a:p>
          <a:p>
            <a:pPr algn="just"/>
            <a:r>
              <a:rPr lang="lt-L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Išimtis: </a:t>
            </a:r>
            <a:r>
              <a:rPr lang="lt-LT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(pa)vadinti, (pa)skelbti, laikyti, pripažinti, (pa)virsti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pvz.: </a:t>
            </a:r>
            <a:r>
              <a:rPr lang="lt-LT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Aš laikau jį išmintingu. Jį pripažino nekaltu.</a:t>
            </a:r>
            <a:endParaRPr lang="lt-L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194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8109F-F9D2-AD56-C9C3-82650B8DBE52}"/>
              </a:ext>
            </a:extLst>
          </p:cNvPr>
          <p:cNvSpPr txBox="1"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lvl="0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225425" algn="l"/>
              </a:tabLst>
            </a:pPr>
            <a:r>
              <a:rPr lang="lt-LT" sz="2800" spc="-10" dirty="0">
                <a:effectLst/>
              </a:rPr>
              <a:t>Užsidėk kepurę ir drožk: nėra ko laukti.</a:t>
            </a:r>
            <a:endParaRPr lang="lt-LT" sz="2800" dirty="0">
              <a:effectLst/>
            </a:endParaRPr>
          </a:p>
          <a:p>
            <a:pPr marL="342900" lvl="0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225425" algn="l"/>
              </a:tabLst>
            </a:pPr>
            <a:r>
              <a:rPr lang="lt-LT" sz="2800" spc="-15" dirty="0">
                <a:effectLst/>
              </a:rPr>
              <a:t>Šiame eilėraštyje persipynė meilė ir neapykanta.</a:t>
            </a:r>
            <a:endParaRPr lang="lt-LT" sz="2800" dirty="0">
              <a:effectLst/>
            </a:endParaRPr>
          </a:p>
          <a:p>
            <a:pPr marL="342900" lvl="0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225425" algn="l"/>
              </a:tabLst>
            </a:pPr>
            <a:r>
              <a:rPr lang="lt-LT" sz="2800" spc="-10" dirty="0">
                <a:effectLst/>
              </a:rPr>
              <a:t>Po devynerių savaičių klasės draugai vėl susitiko.</a:t>
            </a:r>
            <a:endParaRPr lang="lt-LT" sz="2800" dirty="0">
              <a:effectLst/>
            </a:endParaRPr>
          </a:p>
          <a:p>
            <a:pPr marL="342900" lvl="0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225425" algn="l"/>
              </a:tabLst>
            </a:pPr>
            <a:r>
              <a:rPr lang="lt-LT" sz="2800" spc="-15" dirty="0">
                <a:effectLst/>
              </a:rPr>
              <a:t>Batus nunešiau taisymui.</a:t>
            </a:r>
            <a:endParaRPr lang="lt-LT" sz="2800" dirty="0">
              <a:effectLst/>
            </a:endParaRPr>
          </a:p>
          <a:p>
            <a:pPr marL="342900" lvl="0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225425" algn="l"/>
              </a:tabLst>
            </a:pPr>
            <a:r>
              <a:rPr lang="lt-LT" sz="2800" spc="-10" dirty="0">
                <a:effectLst/>
              </a:rPr>
              <a:t>Jis nedrąsiai atsisėdo už vairo.</a:t>
            </a:r>
            <a:endParaRPr lang="lt-LT" sz="2800" dirty="0">
              <a:effectLst/>
            </a:endParaRPr>
          </a:p>
          <a:p>
            <a:pPr marL="342900" lvl="0" indent="-228600">
              <a:lnSpc>
                <a:spcPct val="90000"/>
              </a:lnSpc>
              <a:spcBef>
                <a:spcPts val="5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5425" algn="l"/>
              </a:tabLst>
            </a:pPr>
            <a:r>
              <a:rPr lang="lt-LT" sz="2800" spc="-10" dirty="0">
                <a:effectLst/>
              </a:rPr>
              <a:t>Visi kibirai buvo pripilti vandeniu.</a:t>
            </a:r>
            <a:endParaRPr lang="lt-LT" sz="2800" dirty="0">
              <a:effectLst/>
            </a:endParaRPr>
          </a:p>
          <a:p>
            <a:pPr marL="342900" lvl="0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225425" algn="l"/>
              </a:tabLst>
            </a:pPr>
            <a:r>
              <a:rPr lang="lt-LT" sz="2800" spc="-15" dirty="0">
                <a:effectLst/>
              </a:rPr>
              <a:t>Dėka draugo man pavyko išsigelbėti.</a:t>
            </a:r>
            <a:endParaRPr lang="lt-LT" sz="2800" dirty="0">
              <a:effectLst/>
            </a:endParaRPr>
          </a:p>
          <a:p>
            <a:pPr marL="342900" lvl="0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225425" algn="l"/>
              </a:tabLst>
            </a:pPr>
            <a:r>
              <a:rPr lang="lt-LT" sz="2800" spc="-25" dirty="0">
                <a:effectLst/>
              </a:rPr>
              <a:t>Nemesk kelio dėl takelio.</a:t>
            </a:r>
            <a:endParaRPr lang="lt-LT" sz="2800" dirty="0">
              <a:effectLst/>
            </a:endParaRPr>
          </a:p>
          <a:p>
            <a:pPr marL="342900" lvl="0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225425" algn="l"/>
              </a:tabLst>
            </a:pPr>
            <a:r>
              <a:rPr lang="lt-LT" sz="2800" spc="-5" dirty="0">
                <a:effectLst/>
              </a:rPr>
              <a:t>Pas tave bato raištelis atsirišo.</a:t>
            </a:r>
            <a:endParaRPr lang="lt-LT" sz="2800" dirty="0">
              <a:effectLst/>
            </a:endParaRPr>
          </a:p>
          <a:p>
            <a:pPr marL="342900" lvl="0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225425" algn="l"/>
              </a:tabLst>
            </a:pPr>
            <a:r>
              <a:rPr lang="lt-LT" sz="2800" spc="-15" dirty="0">
                <a:effectLst/>
              </a:rPr>
              <a:t>Pirmoje eilėje aptarsime mokinių elgesį.</a:t>
            </a:r>
            <a:endParaRPr lang="lt-LT" sz="2800" dirty="0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D467FC-087C-34CA-8D52-1A7E9935738C}"/>
              </a:ext>
            </a:extLst>
          </p:cNvPr>
          <p:cNvSpPr txBox="1"/>
          <p:nvPr/>
        </p:nvSpPr>
        <p:spPr>
          <a:xfrm>
            <a:off x="838200" y="1461360"/>
            <a:ext cx="5536397" cy="3935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22573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A8AE7-40E2-8EA7-6B35-3EF5A4570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31092A-92DF-6AC7-0B9A-18B1BD66C7F0}"/>
              </a:ext>
            </a:extLst>
          </p:cNvPr>
          <p:cNvSpPr txBox="1"/>
          <p:nvPr/>
        </p:nvSpPr>
        <p:spPr>
          <a:xfrm>
            <a:off x="2762887" y="848018"/>
            <a:ext cx="8771387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lvl="0">
              <a:spcBef>
                <a:spcPts val="25"/>
              </a:spcBef>
              <a:spcAft>
                <a:spcPts val="0"/>
              </a:spcAft>
              <a:tabLst>
                <a:tab pos="225425" algn="l"/>
              </a:tabLst>
            </a:pPr>
            <a:r>
              <a:rPr lang="lt-LT" sz="2400" spc="-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Tokiose gyvenimo sąlygose sunku būti kitokiam.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spcBef>
                <a:spcPts val="25"/>
              </a:spcBef>
              <a:spcAft>
                <a:spcPts val="0"/>
              </a:spcAft>
              <a:tabLst>
                <a:tab pos="225425" algn="l"/>
              </a:tabLst>
            </a:pPr>
            <a:r>
              <a:rPr lang="lt-LT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 reikia dokumentams nuotraukos trys ant keturių.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spcBef>
                <a:spcPts val="25"/>
              </a:spcBef>
              <a:spcAft>
                <a:spcPts val="0"/>
              </a:spcAft>
              <a:tabLst>
                <a:tab pos="225425" algn="l"/>
              </a:tabLst>
            </a:pPr>
            <a:r>
              <a:rPr lang="lt-LT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Labai dėkui už sudarytas sąlygas dirbti ir mokytis.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tabLst>
                <a:tab pos="225425" algn="l"/>
              </a:tabLst>
            </a:pPr>
            <a:r>
              <a:rPr lang="lt-LT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Jis apsisprendė toliau studijuoti literatūrą.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spcBef>
                <a:spcPts val="50"/>
              </a:spcBef>
              <a:spcAft>
                <a:spcPts val="0"/>
              </a:spcAft>
              <a:tabLst>
                <a:tab pos="225425" algn="l"/>
              </a:tabLst>
            </a:pPr>
            <a:r>
              <a:rPr lang="lt-LT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Paprašyk pas mamą, kad leistų važiuoti kartu.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spcBef>
                <a:spcPts val="25"/>
              </a:spcBef>
              <a:spcAft>
                <a:spcPts val="0"/>
              </a:spcAft>
              <a:tabLst>
                <a:tab pos="225425" algn="l"/>
              </a:tabLst>
            </a:pPr>
            <a:r>
              <a:rPr lang="lt-LT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Šiame eilėraštyje persipynė meilė ir neapykanta.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tabLst>
                <a:tab pos="225425" algn="l"/>
              </a:tabLst>
            </a:pPr>
            <a:r>
              <a:rPr lang="lt-LT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Nusipirkau naujus batelius ant kulniukų.</a:t>
            </a:r>
          </a:p>
          <a:p>
            <a:pPr lvl="0">
              <a:tabLst>
                <a:tab pos="225425" algn="l"/>
              </a:tabLst>
            </a:pPr>
            <a:r>
              <a:rPr lang="lt-LT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Užsirašykite sekančius uždavinius.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tabLst>
                <a:tab pos="225425" algn="l"/>
              </a:tabLst>
            </a:pPr>
            <a:r>
              <a:rPr lang="lt-LT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Išsižioju šaukti -neiššaukiu.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spcBef>
                <a:spcPts val="50"/>
              </a:spcBef>
              <a:spcAft>
                <a:spcPts val="0"/>
              </a:spcAft>
              <a:tabLst>
                <a:tab pos="225425" algn="l"/>
              </a:tabLst>
            </a:pPr>
            <a:r>
              <a:rPr lang="lt-LT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Klaipėdos kraštas buvo prijungtas prie Lietuvos.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spcBef>
                <a:spcPts val="25"/>
              </a:spcBef>
              <a:spcAft>
                <a:spcPts val="0"/>
              </a:spcAft>
              <a:tabLst>
                <a:tab pos="225425" algn="l"/>
              </a:tabLst>
            </a:pPr>
            <a:r>
              <a:rPr lang="lt-LT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Šiandien lietuviai žais prieš vokiečius.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spcBef>
                <a:spcPts val="25"/>
              </a:spcBef>
              <a:spcAft>
                <a:spcPts val="0"/>
              </a:spcAft>
              <a:tabLst>
                <a:tab pos="225425" algn="l"/>
              </a:tabLst>
            </a:pPr>
            <a:r>
              <a:rPr lang="lt-LT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Kad atidarei bumą, net baisu klausytis.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tabLst>
                <a:tab pos="225425" algn="l"/>
              </a:tabLst>
            </a:pPr>
            <a:r>
              <a:rPr lang="lt-LT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Mama grįš vėlai, nes dirba dviejuose etatuose.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tabLst>
                <a:tab pos="225425" algn="l"/>
              </a:tabLst>
            </a:pPr>
            <a:r>
              <a:rPr lang="lt-LT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Prastai išdirbtos kiaulių odos batai neblizga.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spcBef>
                <a:spcPts val="25"/>
              </a:spcBef>
              <a:spcAft>
                <a:spcPts val="0"/>
              </a:spcAft>
              <a:tabLst>
                <a:tab pos="225425" algn="l"/>
              </a:tabLst>
            </a:pPr>
            <a:r>
              <a:rPr lang="lt-LT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Mėnuo atgal čia dar stovėjo namas.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spcBef>
                <a:spcPts val="50"/>
              </a:spcBef>
              <a:spcAft>
                <a:spcPts val="0"/>
              </a:spcAft>
              <a:tabLst>
                <a:tab pos="225425" algn="l"/>
              </a:tabLst>
            </a:pPr>
            <a:r>
              <a:rPr lang="lt-LT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Knyga pašvęsta prancūzų - prūsų karui.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spcBef>
                <a:spcPts val="25"/>
              </a:spcBef>
              <a:spcAft>
                <a:spcPts val="0"/>
              </a:spcAft>
              <a:tabLst>
                <a:tab pos="225425" algn="l"/>
              </a:tabLst>
            </a:pPr>
            <a:r>
              <a:rPr lang="lt-LT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 jau praėjome sunkiausią fizikos temą.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tabLst>
                <a:tab pos="225425" algn="l"/>
              </a:tabLst>
            </a:pPr>
            <a:r>
              <a:rPr lang="lt-LT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Atsigerk to šaltinio vandens - širdis atsigaus.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lnSpc>
                <a:spcPts val="1970"/>
              </a:lnSpc>
              <a:tabLst>
                <a:tab pos="225425" algn="l"/>
              </a:tabLst>
            </a:pP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lvl="0">
              <a:lnSpc>
                <a:spcPct val="90000"/>
              </a:lnSpc>
              <a:tabLst>
                <a:tab pos="225425" algn="l"/>
              </a:tabLst>
            </a:pPr>
            <a:endParaRPr lang="lt-LT" sz="2800" dirty="0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59B048-DB54-96AA-19A7-BB3A8C202C11}"/>
              </a:ext>
            </a:extLst>
          </p:cNvPr>
          <p:cNvSpPr txBox="1"/>
          <p:nvPr/>
        </p:nvSpPr>
        <p:spPr>
          <a:xfrm>
            <a:off x="838200" y="1461360"/>
            <a:ext cx="5536397" cy="3935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26688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C7A3CD-C1C3-66E1-6ED9-DE8F092C3EC9}"/>
              </a:ext>
            </a:extLst>
          </p:cNvPr>
          <p:cNvSpPr txBox="1"/>
          <p:nvPr/>
        </p:nvSpPr>
        <p:spPr>
          <a:xfrm>
            <a:off x="1929385" y="932688"/>
            <a:ext cx="8225268" cy="4771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tabLst>
                <a:tab pos="225425" algn="l"/>
              </a:tabLst>
            </a:pPr>
            <a:r>
              <a:rPr lang="lt-LT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Pas mane yra ta knyga, kurią tu nori perskaityti.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spcBef>
                <a:spcPts val="25"/>
              </a:spcBef>
              <a:spcAft>
                <a:spcPts val="0"/>
              </a:spcAft>
              <a:tabLst>
                <a:tab pos="225425" algn="l"/>
              </a:tabLst>
            </a:pPr>
            <a:r>
              <a:rPr lang="lt-LT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Vyrai pakilo laiptais į trečią aukštą ir pasibeldė į duris.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tabLst>
                <a:tab pos="219710" algn="l"/>
              </a:tabLst>
            </a:pPr>
            <a:r>
              <a:rPr lang="lt-LT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Neteisingai parašytus žodžius reikia ištaisyti.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tabLst>
                <a:tab pos="219710" algn="l"/>
              </a:tabLst>
            </a:pPr>
            <a:r>
              <a:rPr lang="lt-LT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Ilgai kalbėjomės, kol priėjome tos pačios nuomonės.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tabLst>
                <a:tab pos="219710" algn="l"/>
              </a:tabLst>
            </a:pPr>
            <a:r>
              <a:rPr lang="lt-LT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Tai bent pašventėme Naujuosius metus - tris dienas.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tabLst>
                <a:tab pos="219710" algn="l"/>
              </a:tabLst>
            </a:pPr>
            <a:r>
              <a:rPr lang="lt-LT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Yra žodžių, kurie rašosi kitaip negu tariasi.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tabLst>
                <a:tab pos="219710" algn="l"/>
              </a:tabLst>
            </a:pPr>
            <a:r>
              <a:rPr lang="lt-LT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 jie vis pykstasi?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spcBef>
                <a:spcPts val="25"/>
              </a:spcBef>
              <a:spcAft>
                <a:spcPts val="0"/>
              </a:spcAft>
              <a:tabLst>
                <a:tab pos="219710" algn="l"/>
              </a:tabLst>
            </a:pPr>
            <a:r>
              <a:rPr lang="lt-LT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 senai taip atsitiko?</a:t>
            </a:r>
          </a:p>
          <a:p>
            <a:pPr lvl="0">
              <a:tabLst>
                <a:tab pos="219710" algn="l"/>
              </a:tabLst>
            </a:pPr>
            <a:r>
              <a:rPr lang="lt-LT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Jie buvo susitikę prieš kelerius metus.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tabLst>
                <a:tab pos="219710" algn="l"/>
              </a:tabLst>
            </a:pPr>
            <a:r>
              <a:rPr lang="lt-LT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Netekau abejų draugų.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spcBef>
                <a:spcPts val="50"/>
              </a:spcBef>
              <a:spcAft>
                <a:spcPts val="0"/>
              </a:spcAft>
              <a:tabLst>
                <a:tab pos="219710" algn="l"/>
              </a:tabLst>
            </a:pPr>
            <a:r>
              <a:rPr lang="lt-LT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Rašantieji diktantą mokiniai buvo susikaupę.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tabLst>
                <a:tab pos="219710" algn="l"/>
              </a:tabLst>
            </a:pPr>
            <a:r>
              <a:rPr lang="lt-LT" sz="2400" spc="-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Tomas įsimylėjo į Audronę.</a:t>
            </a:r>
            <a:endParaRPr lang="lt-L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970"/>
              </a:lnSpc>
              <a:spcBef>
                <a:spcPts val="25"/>
              </a:spcBef>
              <a:spcAft>
                <a:spcPts val="0"/>
              </a:spcAft>
              <a:buFont typeface="Times New Roman" panose="02020603050405020304" pitchFamily="18" charset="0"/>
              <a:buAutoNum type="arabicPeriod" startAt="34"/>
              <a:tabLst>
                <a:tab pos="219710" algn="l"/>
              </a:tabLst>
            </a:pPr>
            <a:endParaRPr lang="lt-LT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864837"/>
      </p:ext>
    </p:extLst>
  </p:cSld>
  <p:clrMapOvr>
    <a:masterClrMapping/>
  </p:clrMapOvr>
</p:sld>
</file>

<file path=ppt/theme/theme1.xml><?xml version="1.0" encoding="utf-8"?>
<a:theme xmlns:a="http://schemas.openxmlformats.org/drawingml/2006/main" name="„Office“ 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1139</TotalTime>
  <Words>1643</Words>
  <Application>Microsoft Office PowerPoint</Application>
  <PresentationFormat>Widescreen</PresentationFormat>
  <Paragraphs>180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Calibri</vt:lpstr>
      <vt:lpstr>Calibri Light</vt:lpstr>
      <vt:lpstr>Times New Roman</vt:lpstr>
      <vt:lpstr>„Office“ tema</vt:lpstr>
      <vt:lpstr>Kalbos praktikos problemos: keblesnieji linksnių vartojimo atvejai  </vt:lpstr>
      <vt:lpstr>Linksnių vartojimo klaidos</vt:lpstr>
      <vt:lpstr>Vardininko vartojimas</vt:lpstr>
      <vt:lpstr>Kilmininko vartojimas (1)</vt:lpstr>
      <vt:lpstr>Kilmininko vartojimas (2)</vt:lpstr>
      <vt:lpstr>Kilmininko vartojimas (3)</vt:lpstr>
      <vt:lpstr>Naudininko vartojimas (1)</vt:lpstr>
      <vt:lpstr>Naudininko vartojimas (2)</vt:lpstr>
      <vt:lpstr>Naudininko vartojimas (3)</vt:lpstr>
      <vt:lpstr>Galininko vartojimas (1)</vt:lpstr>
      <vt:lpstr>Galininko vartojimas (2)</vt:lpstr>
      <vt:lpstr>Galininko vartojimas (3)</vt:lpstr>
      <vt:lpstr>Įnagininko vartojimas (1)</vt:lpstr>
      <vt:lpstr>Įnagininko vartojimas (2)</vt:lpstr>
      <vt:lpstr>Įnagininko vartojimas (3)</vt:lpstr>
      <vt:lpstr>Vietininko vartojimas</vt:lpstr>
      <vt:lpstr>Dvejybinių linksnių vartojimas (1)</vt:lpstr>
      <vt:lpstr>Dvejybinių linksnių vartojimas (2)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PREZENTACIJOS PAVADINIMAS</dc:title>
  <dc:creator>I</dc:creator>
  <cp:lastModifiedBy>Vilma Leonavičienė</cp:lastModifiedBy>
  <cp:revision>163</cp:revision>
  <dcterms:created xsi:type="dcterms:W3CDTF">2016-04-29T11:19:40Z</dcterms:created>
  <dcterms:modified xsi:type="dcterms:W3CDTF">2026-02-25T09:31:10Z</dcterms:modified>
</cp:coreProperties>
</file>