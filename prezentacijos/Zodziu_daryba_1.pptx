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  <p:sldId id="265" r:id="rId7"/>
    <p:sldId id="267" r:id="rId8"/>
    <p:sldId id="269" r:id="rId9"/>
    <p:sldId id="271" r:id="rId10"/>
    <p:sldId id="273" r:id="rId11"/>
    <p:sldId id="275" r:id="rId12"/>
    <p:sldId id="277" r:id="rId13"/>
    <p:sldId id="279" r:id="rId14"/>
    <p:sldId id="281" r:id="rId15"/>
    <p:sldId id="283" r:id="rId16"/>
    <p:sldId id="285" r:id="rId17"/>
    <p:sldId id="287" r:id="rId18"/>
    <p:sldId id="289" r:id="rId19"/>
    <p:sldId id="291" r:id="rId20"/>
    <p:sldId id="293" r:id="rId21"/>
    <p:sldId id="295" r:id="rId22"/>
    <p:sldId id="297" r:id="rId23"/>
    <p:sldId id="299" r:id="rId24"/>
    <p:sldId id="301" r:id="rId25"/>
    <p:sldId id="303" r:id="rId26"/>
    <p:sldId id="305" r:id="rId27"/>
    <p:sldId id="307" r:id="rId28"/>
    <p:sldId id="309" r:id="rId29"/>
    <p:sldId id="311" r:id="rId30"/>
    <p:sldId id="313" r:id="rId31"/>
    <p:sldId id="314" r:id="rId32"/>
    <p:sldId id="315" r:id="rId33"/>
  </p:sldIdLst>
  <p:sldSz cx="9144000" cy="6858000" type="screen4x3"/>
  <p:notesSz cx="6858000" cy="9144000"/>
  <p:defaultTextStyle>
    <a:defPPr>
      <a:defRPr lang="lt-L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t-LT"/>
              <a:t>Spustelėję redaguokite stilių</a:t>
            </a:r>
            <a:endParaRPr lang="en-GB"/>
          </a:p>
        </p:txBody>
      </p:sp>
      <p:sp>
        <p:nvSpPr>
          <p:cNvPr id="3" name="Antrinis pavadinimas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t-LT"/>
              <a:t>Spustelėkite norėdami redaguoti šablono paantraštės stilių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9CD9926-48C6-971E-BD02-013537C7C9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AB2FEE-A2D3-D959-3A35-C31EA4CD74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AAAEA8-1DBE-E5A3-BFB2-8488E7A926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6F053D-FCDD-4C67-A01F-DABF6D08E398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58727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  <a:endParaRPr lang="en-GB"/>
          </a:p>
        </p:txBody>
      </p:sp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84C60E4-0D71-FFEF-041E-22A56A8DEB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F2EAAE-38D4-D7C8-DA0A-511CA05000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0FBB5E-429D-E300-E5CD-A39D958840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40C84-F25F-4B1A-A6D7-D0321B4C99C5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1655543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t-LT"/>
              <a:t>Spustelėję redaguokite stilių</a:t>
            </a:r>
            <a:endParaRPr lang="en-GB"/>
          </a:p>
        </p:txBody>
      </p:sp>
      <p:sp>
        <p:nvSpPr>
          <p:cNvPr id="3" name="Teksto vietos rezervavimo ženklas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F9037C-DFC5-82BC-D1C9-E785BBB55F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BA2A67-F1BA-E3D2-F12A-3476D93A19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55C72F-3CA7-AFB3-91E3-866C78DC99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6A3369-B65B-488E-876D-630E987E75CF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16961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  <a:endParaRPr lang="en-GB"/>
          </a:p>
        </p:txBody>
      </p:sp>
      <p:sp>
        <p:nvSpPr>
          <p:cNvPr id="3" name="Turinio vietos rezervavimo ženklas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  <a:endParaRPr lang="en-GB"/>
          </a:p>
        </p:txBody>
      </p:sp>
      <p:sp>
        <p:nvSpPr>
          <p:cNvPr id="4" name="Turinio vietos rezervavimo ženklas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C41A0-6C95-F5DB-6ACC-5A384DF631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4BECCD-8103-2D66-2EA4-E6DAC65895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935E3-6640-2550-94DD-99C7790BCB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B8155-0A30-490B-8CB8-F5EF978712C1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3370360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lt-LT"/>
              <a:t>Spustelėję redaguokite stilių</a:t>
            </a:r>
            <a:endParaRPr lang="en-GB"/>
          </a:p>
        </p:txBody>
      </p:sp>
      <p:sp>
        <p:nvSpPr>
          <p:cNvPr id="3" name="Teksto vietos rezervavimo ženklas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Turinio vietos rezervavimo ženklas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  <a:endParaRPr lang="en-GB"/>
          </a:p>
        </p:txBody>
      </p:sp>
      <p:sp>
        <p:nvSpPr>
          <p:cNvPr id="5" name="Teksto vietos rezervavimo ženklas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6" name="Turinio vietos rezervavimo ženklas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8581E27-24A7-9688-EAF1-5A2DF2DEAC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E782FAD-1AF4-0C1E-81AF-B53F39699A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C0ADB90-B02D-C915-7606-F538E76376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378646-B12A-40CE-8488-021F497F348B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881405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511A098-29B9-F357-4235-8DDFAF7C6A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D6EC1E2-9DD1-872B-CD50-4F08C69A08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B18DF9E-954E-73D6-18B0-B4C9E26D10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21E0B-268A-4264-8696-99330225AD75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3378045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5649BEE-4FE9-B559-FFD3-478659F8B8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F35B916-3CE0-3B45-C35D-BEABDC51D1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9EC22FC-0EAA-5D38-DD5C-941C3FBA32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31E87-2161-4017-B8A2-65BBAE4D3711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191399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  <a:endParaRPr lang="en-GB"/>
          </a:p>
        </p:txBody>
      </p:sp>
      <p:sp>
        <p:nvSpPr>
          <p:cNvPr id="3" name="Turinio vietos rezervavimo ženklas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  <a:endParaRPr lang="en-GB"/>
          </a:p>
        </p:txBody>
      </p:sp>
      <p:sp>
        <p:nvSpPr>
          <p:cNvPr id="4" name="Teksto vietos rezervavimo ženklas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638A1A-3BA3-6E87-E17B-B5F4F7F454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86FDCC-2057-F535-24F7-92752180C2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ED1116-169E-548F-B671-1EC8E34083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883F7B-06F4-4E8B-811B-3EB4F181DA13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2480951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  <a:endParaRPr lang="en-GB"/>
          </a:p>
        </p:txBody>
      </p:sp>
      <p:sp>
        <p:nvSpPr>
          <p:cNvPr id="3" name="Paveikslėlio vietos rezervavimo ženklas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ksto vietos rezervavimo ženklas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63BE22-FF53-0874-7E78-052F0F04C1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2476D7-EA3A-5539-00B9-CD8E9011B4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AA2A88-3BFD-C696-A0C9-DBF7AACC19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A0711B-68AE-4689-973D-4A449D6FAB0B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2155365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  <a:endParaRPr lang="en-GB"/>
          </a:p>
        </p:txBody>
      </p:sp>
      <p:sp>
        <p:nvSpPr>
          <p:cNvPr id="3" name="Vertikalaus teksto vietos rezervavimo ženklas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F7028C-B55F-D81B-6E2B-326F01B32A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9A86CC-A9C1-3932-2BD6-DFA800547A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B7E629-F109-FE1B-9E98-2AF273284F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C8537D-5725-4105-A434-2DB3E627B464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370543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us pavadinima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lt-LT"/>
              <a:t>Spustelėję redaguokite stilių</a:t>
            </a:r>
            <a:endParaRPr lang="en-GB"/>
          </a:p>
        </p:txBody>
      </p:sp>
      <p:sp>
        <p:nvSpPr>
          <p:cNvPr id="3" name="Vertikalaus teksto vietos rezervavimo ženklas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91FBA9-76A8-8434-6354-D9093355DA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1B83A1-B34F-E22E-B86F-5718A22B04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4755A7-BC66-854F-8DD1-106ACB96B3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A308A-C95E-4352-9101-4FA035B2684E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  <p:extLst>
      <p:ext uri="{BB962C8B-B14F-4D97-AF65-F5344CB8AC3E}">
        <p14:creationId xmlns:p14="http://schemas.microsoft.com/office/powerpoint/2010/main" val="3670565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C6B276D-55DB-A227-A3E4-A49E7C1FCC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lt-LT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03D4460-FA5F-88B7-D6AA-F5840B2BE6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t-LT" altLang="en-US"/>
              <a:t>Click to edit Master text styles</a:t>
            </a:r>
          </a:p>
          <a:p>
            <a:pPr lvl="1"/>
            <a:r>
              <a:rPr lang="lt-LT" altLang="en-US"/>
              <a:t>Second level</a:t>
            </a:r>
          </a:p>
          <a:p>
            <a:pPr lvl="2"/>
            <a:r>
              <a:rPr lang="lt-LT" altLang="en-US"/>
              <a:t>Third level</a:t>
            </a:r>
          </a:p>
          <a:p>
            <a:pPr lvl="3"/>
            <a:r>
              <a:rPr lang="lt-LT" altLang="en-US"/>
              <a:t>Fourth level</a:t>
            </a:r>
          </a:p>
          <a:p>
            <a:pPr lvl="4"/>
            <a:r>
              <a:rPr lang="lt-LT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39BEB2E-B0FE-30CC-EDEA-ACD723F8898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D5DE13F-6404-8A70-0314-A23DF1C053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lt-LT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E28DFCE-9D53-3771-86D1-5156C4F382F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B31AC8E-EBCC-4BB3-ACC6-84122906EE7D}" type="slidenum">
              <a:rPr lang="lt-LT" altLang="en-US"/>
              <a:pPr>
                <a:defRPr/>
              </a:pPr>
              <a:t>‹#›</a:t>
            </a:fld>
            <a:endParaRPr lang="lt-L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0F88E2C-F527-BE19-ACE0-29CB1BE40BB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lt-LT" altLang="en-US" sz="4400" dirty="0"/>
              <a:t>Žodžių darybos normos ir klaidos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845D8FF-E990-5CE8-5FFD-167694FE71B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r>
              <a:rPr lang="lt-LT" altLang="en-US" sz="3200" dirty="0"/>
              <a:t>Vartojimo atvejai</a:t>
            </a:r>
            <a:endParaRPr lang="en-US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74D838F-A0DC-946A-925F-7CA3810E61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 sz="4000"/>
              <a:t>Būdingiausios žodžių darybos klaidų priežastys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2524A5E-1AF2-25DF-B828-8684425691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lt-LT" altLang="en-US" sz="2800"/>
              <a:t>Dėl lietuvių kalbai svetimų žodžių elementų, pvz., </a:t>
            </a:r>
            <a:r>
              <a:rPr lang="lt-LT" altLang="en-US" sz="2800" i="1" u="sng"/>
              <a:t>da</a:t>
            </a:r>
            <a:r>
              <a:rPr lang="lt-LT" altLang="en-US" sz="2800"/>
              <a:t>eiti – prieiti; </a:t>
            </a:r>
          </a:p>
          <a:p>
            <a:pPr eaLnBrk="1" hangingPunct="1"/>
            <a:r>
              <a:rPr lang="lt-LT" altLang="en-US" sz="2800"/>
              <a:t>Parenkami netinkami lietuvių kalbos žodžių elementai, pvz., asmen</a:t>
            </a:r>
            <a:r>
              <a:rPr lang="lt-LT" altLang="en-US" sz="2800" i="1" u="sng"/>
              <a:t>iniai</a:t>
            </a:r>
            <a:r>
              <a:rPr lang="lt-LT" altLang="en-US" sz="2800"/>
              <a:t> – asmeniškai; </a:t>
            </a:r>
          </a:p>
          <a:p>
            <a:pPr eaLnBrk="1" hangingPunct="1"/>
            <a:r>
              <a:rPr lang="lt-LT" altLang="en-US" sz="2800"/>
              <a:t>Ne savo darybos reikšme vartojami žodžiai ar žodžių darybos formantai, pvz., atskied</a:t>
            </a:r>
            <a:r>
              <a:rPr lang="lt-LT" altLang="en-US" sz="2800" i="1" u="sng"/>
              <a:t>ėjas</a:t>
            </a:r>
            <a:r>
              <a:rPr lang="lt-LT" altLang="en-US" sz="2800"/>
              <a:t> – skiediklis; autoatsak</a:t>
            </a:r>
            <a:r>
              <a:rPr lang="lt-LT" altLang="en-US" sz="2800" i="1" u="sng"/>
              <a:t>ovas</a:t>
            </a:r>
            <a:r>
              <a:rPr lang="lt-LT" altLang="en-US" sz="2800"/>
              <a:t> – atsakiklis.</a:t>
            </a:r>
          </a:p>
          <a:p>
            <a:pPr eaLnBrk="1" hangingPunct="1"/>
            <a:r>
              <a:rPr lang="lt-LT" altLang="en-US" sz="2800"/>
              <a:t>Sudurtiniai žodžiai sudaromi pažeidžiant normas, pvz., </a:t>
            </a:r>
            <a:r>
              <a:rPr lang="lt-LT" altLang="en-US" sz="2800" i="1" u="sng"/>
              <a:t>vyrinžinierius</a:t>
            </a:r>
            <a:r>
              <a:rPr lang="lt-LT" altLang="en-US" sz="2800"/>
              <a:t> – vyriausiasis inžinierius / vyr. inžinierius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614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E898FD6-AC6D-01F1-F430-907241BB4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Priesagų vediniai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5B31AC1-0820-B22A-EA9B-7EB759086D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kai kurie žodžiai sudaromi su: </a:t>
            </a:r>
          </a:p>
          <a:p>
            <a:pPr eaLnBrk="1" hangingPunct="1">
              <a:buFontTx/>
              <a:buNone/>
            </a:pPr>
            <a:r>
              <a:rPr lang="lt-LT" altLang="en-US"/>
              <a:t>1) </a:t>
            </a:r>
            <a:r>
              <a:rPr lang="lt-LT" altLang="en-US" b="1"/>
              <a:t>netaisyklingomis priesagomis</a:t>
            </a:r>
            <a:r>
              <a:rPr lang="lt-LT" altLang="en-US"/>
              <a:t>, pvz., </a:t>
            </a:r>
            <a:r>
              <a:rPr lang="lt-LT" altLang="en-US" b="1" i="1"/>
              <a:t>-ka</a:t>
            </a:r>
            <a:r>
              <a:rPr lang="lt-LT" altLang="en-US" i="1"/>
              <a:t> (</a:t>
            </a:r>
            <a:r>
              <a:rPr lang="lt-LT" altLang="en-US" i="1" u="sng"/>
              <a:t>petruška</a:t>
            </a:r>
            <a:r>
              <a:rPr lang="lt-LT" altLang="en-US" i="1"/>
              <a:t> (petražolė), </a:t>
            </a:r>
            <a:r>
              <a:rPr lang="lt-LT" altLang="en-US" b="1" i="1"/>
              <a:t>-iakas</a:t>
            </a:r>
            <a:r>
              <a:rPr lang="lt-LT" altLang="en-US" i="1"/>
              <a:t> (</a:t>
            </a:r>
            <a:r>
              <a:rPr lang="lt-LT" altLang="en-US" i="1" u="sng"/>
              <a:t>mobiliakas</a:t>
            </a:r>
            <a:r>
              <a:rPr lang="lt-LT" altLang="en-US" i="1"/>
              <a:t> (mobilusis telefonas);</a:t>
            </a:r>
          </a:p>
          <a:p>
            <a:pPr eaLnBrk="1" hangingPunct="1">
              <a:buFontTx/>
              <a:buNone/>
            </a:pPr>
            <a:r>
              <a:rPr lang="lt-LT" altLang="en-US" i="1"/>
              <a:t>2) </a:t>
            </a:r>
            <a:r>
              <a:rPr lang="lt-LT" altLang="en-US" b="1"/>
              <a:t>Netinkamai parinktomis priesagomis</a:t>
            </a:r>
            <a:r>
              <a:rPr lang="lt-LT" altLang="en-US"/>
              <a:t>, pvz., </a:t>
            </a:r>
            <a:r>
              <a:rPr lang="lt-LT" altLang="en-US" b="1" i="1"/>
              <a:t>-ėjas</a:t>
            </a:r>
            <a:r>
              <a:rPr lang="lt-LT" altLang="en-US"/>
              <a:t> (</a:t>
            </a:r>
            <a:r>
              <a:rPr lang="lt-LT" altLang="en-US" i="1" u="sng"/>
              <a:t>krovėjas</a:t>
            </a:r>
            <a:r>
              <a:rPr lang="lt-LT" altLang="en-US" i="1"/>
              <a:t> (kroviklis</a:t>
            </a:r>
            <a:r>
              <a:rPr lang="lt-LT" altLang="en-US"/>
              <a:t>), </a:t>
            </a:r>
            <a:r>
              <a:rPr lang="lt-LT" altLang="en-US" b="1" i="1"/>
              <a:t>-iniai</a:t>
            </a:r>
            <a:r>
              <a:rPr lang="lt-LT" altLang="en-US"/>
              <a:t> (</a:t>
            </a:r>
            <a:r>
              <a:rPr lang="lt-LT" altLang="en-US" i="1" u="sng"/>
              <a:t>esminia</a:t>
            </a:r>
            <a:r>
              <a:rPr lang="lt-LT" altLang="en-US" i="1"/>
              <a:t>i (iš esmės).</a:t>
            </a:r>
            <a:endParaRPr lang="lt-LT" altLang="en-US" b="1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19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A408E3B-B191-362B-608B-B2ABEC4680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 sz="4000"/>
              <a:t>Priesaginiai daiktavardžiai</a:t>
            </a:r>
            <a:br>
              <a:rPr lang="lt-LT" altLang="en-US" sz="4000"/>
            </a:br>
            <a:r>
              <a:rPr lang="lt-LT" altLang="en-US" sz="4000"/>
              <a:t>1.  </a:t>
            </a:r>
            <a:r>
              <a:rPr lang="lt-LT" altLang="en-US" sz="4000" i="1"/>
              <a:t>-ėjas, -tojas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81D77B9-3EDD-2D23-579F-932EB731AB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Vartojama asmenų, veikėjų pavadinimams daryti (</a:t>
            </a:r>
            <a:r>
              <a:rPr lang="lt-LT" altLang="en-US" i="1"/>
              <a:t>šokėjas, siuvėjas, mokytojas, rašytojas</a:t>
            </a:r>
            <a:r>
              <a:rPr lang="lt-LT" altLang="en-US"/>
              <a:t>).</a:t>
            </a:r>
          </a:p>
          <a:p>
            <a:pPr eaLnBrk="1" hangingPunct="1"/>
            <a:r>
              <a:rPr lang="lt-LT" altLang="en-US" b="1"/>
              <a:t>Netaisyklingai</a:t>
            </a:r>
            <a:r>
              <a:rPr lang="lt-LT" altLang="en-US"/>
              <a:t> vartojama, kai su ja sudaromi prietaisų, daiktų, priemonių pavadinimai, pvz.: </a:t>
            </a:r>
            <a:r>
              <a:rPr lang="lt-LT" altLang="en-US" i="1" u="sng"/>
              <a:t>išjungėjas</a:t>
            </a:r>
            <a:r>
              <a:rPr lang="lt-LT" altLang="en-US" i="1"/>
              <a:t> (jungiklis), </a:t>
            </a:r>
            <a:r>
              <a:rPr lang="lt-LT" altLang="en-US" i="1" u="sng"/>
              <a:t>kėlėjas</a:t>
            </a:r>
            <a:r>
              <a:rPr lang="lt-LT" altLang="en-US" i="1"/>
              <a:t> (keltuvas), balintojas (baliklis)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4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7646E7B-9C10-44CA-7E32-7E17C0C9A0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2. </a:t>
            </a:r>
            <a:r>
              <a:rPr lang="lt-LT" altLang="en-US" i="1"/>
              <a:t>-ietis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D74085A-15E0-BF51-EECE-5E6F7F9F9B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Vartojama asmenims pagal jų gyvenamąją vietą pavadinti </a:t>
            </a:r>
            <a:r>
              <a:rPr lang="lt-LT" altLang="en-US" i="1"/>
              <a:t>(kaunietis, vilnietis</a:t>
            </a:r>
            <a:r>
              <a:rPr lang="lt-LT" altLang="en-US"/>
              <a:t>)</a:t>
            </a:r>
          </a:p>
          <a:p>
            <a:pPr eaLnBrk="1" hangingPunct="1"/>
            <a:r>
              <a:rPr lang="lt-LT" altLang="en-US"/>
              <a:t>Darant asmenų pavadinimus iš valstybių, kraštų pavadinimų, turinčių priesagą </a:t>
            </a:r>
            <a:r>
              <a:rPr lang="lt-LT" altLang="en-US" b="1" i="1"/>
              <a:t>–ija</a:t>
            </a:r>
            <a:r>
              <a:rPr lang="lt-LT" altLang="en-US"/>
              <a:t>, ji išmetama, pridedamos galūnės </a:t>
            </a:r>
            <a:r>
              <a:rPr lang="lt-LT" altLang="en-US" b="1" i="1"/>
              <a:t>–as, -is</a:t>
            </a:r>
            <a:r>
              <a:rPr lang="lt-LT" altLang="en-US"/>
              <a:t>, pvz.: </a:t>
            </a:r>
            <a:r>
              <a:rPr lang="lt-LT" altLang="en-US" i="1"/>
              <a:t>Lenkija – lenkas</a:t>
            </a:r>
            <a:r>
              <a:rPr lang="lt-LT" altLang="en-US"/>
              <a:t>, todėl neteiktini žodžiai yra </a:t>
            </a:r>
            <a:r>
              <a:rPr lang="lt-LT" altLang="en-US" i="1" u="sng"/>
              <a:t>kinietis </a:t>
            </a:r>
            <a:r>
              <a:rPr lang="lt-LT" altLang="en-US"/>
              <a:t>ir </a:t>
            </a:r>
            <a:r>
              <a:rPr lang="lt-LT" altLang="en-US" i="1" u="sng"/>
              <a:t>australietis</a:t>
            </a:r>
            <a:r>
              <a:rPr lang="lt-LT" altLang="en-US"/>
              <a:t> </a:t>
            </a:r>
            <a:r>
              <a:rPr lang="lt-LT" altLang="en-US" i="1"/>
              <a:t>(kinas ir australas).</a:t>
            </a:r>
          </a:p>
          <a:p>
            <a:pPr eaLnBrk="1" hangingPunct="1"/>
            <a:r>
              <a:rPr lang="lt-LT" altLang="en-US" b="1"/>
              <a:t>Išimtys:</a:t>
            </a:r>
            <a:r>
              <a:rPr lang="lt-LT" altLang="en-US" i="1"/>
              <a:t> kolumbietis, gruzinas (// sakartvelietis, -ė)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AF26D81-082A-2EAB-2F1A-3DA97C6378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2. </a:t>
            </a:r>
            <a:r>
              <a:rPr lang="lt-LT" altLang="en-US" i="1"/>
              <a:t>-ietis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794CCAA-CCB6-C948-BE75-E5CF970C41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Klaida yra vediniai, žymintys asmenis pagal priklausymą kolektyvui, bendruomenei arba organizacijai, pvz.: </a:t>
            </a:r>
            <a:r>
              <a:rPr lang="lt-LT" altLang="en-US" i="1"/>
              <a:t>sąjūdietis (sąjūdininkas)</a:t>
            </a:r>
            <a:r>
              <a:rPr lang="lt-LT" altLang="en-US"/>
              <a:t>; </a:t>
            </a:r>
            <a:r>
              <a:rPr lang="lt-LT" altLang="en-US" i="1" u="sng"/>
              <a:t>šviesietis</a:t>
            </a:r>
            <a:r>
              <a:rPr lang="lt-LT" altLang="en-US"/>
              <a:t> (</a:t>
            </a:r>
            <a:r>
              <a:rPr lang="lt-LT" altLang="en-US" i="1"/>
              <a:t>Šviesos</a:t>
            </a:r>
            <a:r>
              <a:rPr lang="lt-LT" altLang="en-US"/>
              <a:t> draugijos narys).</a:t>
            </a:r>
          </a:p>
          <a:p>
            <a:pPr eaLnBrk="1" hangingPunct="1"/>
            <a:r>
              <a:rPr lang="lt-LT" altLang="en-US" b="1" i="1" u="sng"/>
              <a:t>Gerietis, blogietis</a:t>
            </a:r>
            <a:r>
              <a:rPr lang="lt-LT" altLang="en-US"/>
              <a:t> keistini atitikmenimis: </a:t>
            </a:r>
            <a:r>
              <a:rPr lang="lt-LT" altLang="en-US" i="1"/>
              <a:t>geruolis, gerutis, blogiukas, blogutis, blogulis</a:t>
            </a:r>
            <a:r>
              <a:rPr lang="lt-LT" altLang="en-US"/>
              <a:t>.</a:t>
            </a:r>
            <a:endParaRPr lang="lt-LT" altLang="en-US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1433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35E99A9-D255-FD93-89D1-1C17E0AA40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3.</a:t>
            </a:r>
            <a:r>
              <a:rPr lang="lt-LT" altLang="en-US"/>
              <a:t> </a:t>
            </a:r>
            <a:r>
              <a:rPr lang="lt-LT" altLang="en-US" i="1"/>
              <a:t>-ija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7F0AC1C-47EF-E31A-25C7-F08EB8A3D1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Ją turi kuopiniai daiktavardžiai, pvz.: </a:t>
            </a:r>
            <a:r>
              <a:rPr lang="lt-LT" altLang="en-US" i="1"/>
              <a:t>studentija, darbininkija, lapija</a:t>
            </a:r>
            <a:r>
              <a:rPr lang="lt-LT" altLang="en-US"/>
              <a:t>.</a:t>
            </a:r>
          </a:p>
          <a:p>
            <a:pPr eaLnBrk="1" hangingPunct="1"/>
            <a:r>
              <a:rPr lang="lt-LT" altLang="en-US"/>
              <a:t>Kai norima pasakyti, jog veiksmą atlieka daugelis asmenų, nežyminti jų visumos, geriau vartoti daugiskaitą, pvz.: </a:t>
            </a:r>
            <a:r>
              <a:rPr lang="lt-LT" altLang="en-US" i="1" u="sng"/>
              <a:t>dvasininkija</a:t>
            </a:r>
            <a:r>
              <a:rPr lang="lt-LT" altLang="en-US" i="1"/>
              <a:t> (dvasininkai) neturėtų kištis į politiką; streikuoja fabriko </a:t>
            </a:r>
            <a:r>
              <a:rPr lang="lt-LT" altLang="en-US" i="1" u="sng"/>
              <a:t>darbininkija </a:t>
            </a:r>
            <a:r>
              <a:rPr lang="lt-LT" altLang="en-US" i="1"/>
              <a:t>(darbininkai).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191A970-2DE4-632C-7087-61F394B4D7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4.</a:t>
            </a:r>
            <a:r>
              <a:rPr lang="lt-LT" altLang="en-US"/>
              <a:t> </a:t>
            </a:r>
            <a:r>
              <a:rPr lang="lt-LT" altLang="en-US" i="1"/>
              <a:t>–imas ir -ymas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63898C6-2BF0-60A5-D538-A586C3459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</a:pPr>
            <a:r>
              <a:rPr lang="lt-LT" altLang="en-US"/>
              <a:t>Daromi abstraktieji daiktavardžiai iš veiksmažodžių. Kai kada siūloma keisti: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arenR"/>
            </a:pPr>
            <a:r>
              <a:rPr lang="lt-LT" altLang="en-US"/>
              <a:t>veiksmažodžiais, pvz.: </a:t>
            </a:r>
            <a:r>
              <a:rPr lang="lt-LT" altLang="en-US" i="1"/>
              <a:t>atlikti</a:t>
            </a:r>
            <a:r>
              <a:rPr lang="lt-LT" altLang="en-US" i="1" u="sng"/>
              <a:t> stebėjimą</a:t>
            </a:r>
            <a:r>
              <a:rPr lang="lt-LT" altLang="en-US" i="1"/>
              <a:t> įmonėje (stebėti įmonės veiklą); trūksta pinigų algų </a:t>
            </a:r>
            <a:r>
              <a:rPr lang="lt-LT" altLang="en-US" i="1" u="sng"/>
              <a:t>išmokėjimui</a:t>
            </a:r>
            <a:r>
              <a:rPr lang="lt-LT" altLang="en-US" i="1"/>
              <a:t> (algoms išmokėti); telefonas </a:t>
            </a:r>
            <a:r>
              <a:rPr lang="lt-LT" altLang="en-US" i="1" u="sng"/>
              <a:t>pasiteiravimui </a:t>
            </a:r>
            <a:r>
              <a:rPr lang="lt-LT" altLang="en-US" i="1"/>
              <a:t>(pasiteirauti).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arenR"/>
            </a:pPr>
            <a:r>
              <a:rPr lang="lt-LT" altLang="en-US"/>
              <a:t>daiktavardžiais su kitomis priesagomis, pvz.: </a:t>
            </a:r>
            <a:r>
              <a:rPr lang="lt-LT" altLang="en-US" i="1"/>
              <a:t>batų </a:t>
            </a:r>
            <a:r>
              <a:rPr lang="lt-LT" altLang="en-US" i="1" u="sng"/>
              <a:t>taisymas</a:t>
            </a:r>
            <a:r>
              <a:rPr lang="lt-LT" altLang="en-US" i="1"/>
              <a:t> (taisykla), valiutos </a:t>
            </a:r>
            <a:r>
              <a:rPr lang="lt-LT" altLang="en-US" i="1" u="sng"/>
              <a:t>keitimas </a:t>
            </a:r>
            <a:r>
              <a:rPr lang="lt-LT" altLang="en-US" i="1"/>
              <a:t>(keitykla), troleibuso </a:t>
            </a:r>
            <a:r>
              <a:rPr lang="lt-LT" altLang="en-US" i="1" u="sng"/>
              <a:t>sustojimas</a:t>
            </a:r>
            <a:r>
              <a:rPr lang="lt-LT" altLang="en-US" i="1"/>
              <a:t> (stotelė</a:t>
            </a:r>
            <a:r>
              <a:rPr lang="lt-LT" altLang="en-US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3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9ACA59D-B950-4F95-E539-D982439D48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5.</a:t>
            </a:r>
            <a:r>
              <a:rPr lang="lt-LT" altLang="en-US"/>
              <a:t> </a:t>
            </a:r>
            <a:r>
              <a:rPr lang="lt-LT" altLang="en-US" i="1"/>
              <a:t>–imas ir -ymas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B934FB5-70E7-AC07-AC3A-286E281331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lt-LT" altLang="en-US"/>
              <a:t>3) Reikalingi galūnių vediniai, pvz.: </a:t>
            </a:r>
            <a:r>
              <a:rPr lang="lt-LT" altLang="en-US" i="1"/>
              <a:t>įrenginių </a:t>
            </a:r>
            <a:r>
              <a:rPr lang="lt-LT" altLang="en-US" i="1" u="sng"/>
              <a:t>apkrovimas</a:t>
            </a:r>
            <a:r>
              <a:rPr lang="lt-LT" altLang="en-US" i="1"/>
              <a:t> (apkrova, krūvis); detalių </a:t>
            </a:r>
            <a:r>
              <a:rPr lang="lt-LT" altLang="en-US" i="1" u="sng"/>
              <a:t>aprašymas </a:t>
            </a:r>
            <a:r>
              <a:rPr lang="lt-LT" altLang="en-US" i="1"/>
              <a:t>(aprašas); </a:t>
            </a:r>
            <a:r>
              <a:rPr lang="lt-LT" altLang="en-US" i="1" u="sng"/>
              <a:t>perėjimas</a:t>
            </a:r>
            <a:r>
              <a:rPr lang="lt-LT" altLang="en-US" i="1"/>
              <a:t> (perėja</a:t>
            </a:r>
            <a:r>
              <a:rPr lang="lt-LT" altLang="en-US"/>
              <a:t>).</a:t>
            </a:r>
          </a:p>
          <a:p>
            <a:pPr eaLnBrk="1" hangingPunct="1">
              <a:buFontTx/>
              <a:buNone/>
            </a:pPr>
            <a:r>
              <a:rPr lang="lt-LT" altLang="en-US"/>
              <a:t>4) Reikalingas visai kitas žodis, pvz.: </a:t>
            </a:r>
            <a:r>
              <a:rPr lang="lt-LT" altLang="en-US" i="1"/>
              <a:t>atmosferos </a:t>
            </a:r>
            <a:r>
              <a:rPr lang="lt-LT" altLang="en-US" i="1" u="sng"/>
              <a:t>iškritimai </a:t>
            </a:r>
            <a:r>
              <a:rPr lang="lt-LT" altLang="en-US" i="1"/>
              <a:t>(krituliai).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1D392822-807B-2B78-E23A-76149BA7C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6.</a:t>
            </a:r>
            <a:r>
              <a:rPr lang="lt-LT" altLang="en-US"/>
              <a:t> </a:t>
            </a:r>
            <a:r>
              <a:rPr lang="lt-LT" altLang="en-US" b="1" i="1"/>
              <a:t>–umas</a:t>
            </a:r>
            <a:r>
              <a:rPr lang="lt-LT" altLang="en-US"/>
              <a:t> 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BB39455-C552-9E97-9D82-B81EF13A31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Vartojama abstraktiems daiktavardžiams sudaryti. Dažniausiai sudaromi daiktavardžiai iš būdvardžių: </a:t>
            </a:r>
            <a:r>
              <a:rPr lang="lt-LT" altLang="en-US" i="1"/>
              <a:t>geras – gerumas, ilgas – ilgumas.</a:t>
            </a:r>
          </a:p>
          <a:p>
            <a:pPr eaLnBrk="1" hangingPunct="1"/>
            <a:r>
              <a:rPr lang="lt-LT" altLang="en-US"/>
              <a:t>Reikėtų nepiktnaudžiauti šios priesagos vediniais ir vartoti kalboje esančius žodžius</a:t>
            </a:r>
            <a:r>
              <a:rPr lang="lt-LT" altLang="en-US" i="1"/>
              <a:t>, pvz.: begalinumas – begalybė, visagališkumas – visagalybė.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2253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8396EA1-EAF7-9942-55F0-3999F2914E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 sz="4000"/>
              <a:t>Daiktavardžiai su taisytinomis svetimomis priesagomis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C9AE906-A398-096E-1955-83660B96E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lt-LT" altLang="en-US"/>
              <a:t>Netaisyklingos priesagos: </a:t>
            </a:r>
            <a:r>
              <a:rPr lang="lt-LT" altLang="en-US" b="1" i="1"/>
              <a:t>-ka, -kė, 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lt-LT" altLang="en-US" b="1" i="1"/>
              <a:t>-uška, pvz.: </a:t>
            </a:r>
            <a:r>
              <a:rPr lang="lt-LT" altLang="en-US" i="1"/>
              <a:t>petruška (petražolė), kaimynka (kaimynė), Gražka, Gražkė (Gražina), Vycka (Vytas).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lt-LT" altLang="en-US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/>
      <p:bldP spid="2457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8E28EFC-D000-88C8-6BCD-33285809F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 sz="4000"/>
              <a:t>Daiktavardžiai su taisytinomis svetimomis priesagomis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0D9F2C3-9DB8-DBFD-8C2C-5D2519AD78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lt-LT" altLang="en-US"/>
              <a:t>2. Neteiktini žodžiai su priesaga </a:t>
            </a:r>
            <a:r>
              <a:rPr lang="lt-LT" altLang="en-US" b="1" i="1"/>
              <a:t>–inyčia</a:t>
            </a:r>
            <a:r>
              <a:rPr lang="lt-LT" altLang="en-US"/>
              <a:t>, pvz.: </a:t>
            </a:r>
            <a:r>
              <a:rPr lang="lt-LT" altLang="en-US" i="1"/>
              <a:t>cukrinyčia (cukrinė), druskinyčia (druskinė).</a:t>
            </a:r>
          </a:p>
          <a:p>
            <a:pPr eaLnBrk="1" hangingPunct="1">
              <a:buFontTx/>
              <a:buNone/>
            </a:pPr>
            <a:r>
              <a:rPr lang="lt-LT" altLang="en-US" i="1"/>
              <a:t>3. </a:t>
            </a:r>
            <a:r>
              <a:rPr lang="lt-LT" altLang="en-US"/>
              <a:t>Neteiktina priesaga</a:t>
            </a:r>
            <a:r>
              <a:rPr lang="lt-LT" altLang="en-US" i="1"/>
              <a:t> </a:t>
            </a:r>
            <a:r>
              <a:rPr lang="lt-LT" altLang="en-US" b="1" i="1"/>
              <a:t>–ikas, </a:t>
            </a:r>
            <a:r>
              <a:rPr lang="lt-LT" altLang="en-US"/>
              <a:t>pvz.:</a:t>
            </a:r>
            <a:r>
              <a:rPr lang="lt-LT" altLang="en-US" b="1" i="1"/>
              <a:t> </a:t>
            </a:r>
            <a:r>
              <a:rPr lang="lt-LT" altLang="en-US" i="1"/>
              <a:t>kubikas (kubelis), pufikas (pufas,  pampsas, pampsiukas).</a:t>
            </a:r>
          </a:p>
          <a:p>
            <a:pPr eaLnBrk="1" hangingPunct="1">
              <a:buFontTx/>
              <a:buNone/>
            </a:pPr>
            <a:r>
              <a:rPr lang="lt-LT" altLang="en-US" i="1"/>
              <a:t>4. Alkoholikas, darboholikas???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A07A54D-7E5A-6C0B-5E83-6D94B0CEDB1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lt-LT" altLang="en-US" sz="4400"/>
              <a:t>Priesaginiai būdvardžiai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8255A54-F78C-F487-1398-D2E16F813D9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en-US" altLang="en-US"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DEC46C4-994E-12C2-0748-236A9F350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Priesaga </a:t>
            </a:r>
            <a:r>
              <a:rPr lang="lt-LT" altLang="en-US" i="1"/>
              <a:t>-inis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DCF706E-9A45-9E74-4311-CF36147123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lt-LT" altLang="en-US"/>
              <a:t>1. Jeigu labiau pabrėžiamas tam tikrą ypatybę turintis daiktas (veikėjas, objektas), vartojamas kilmininkas, o jeigu rūšis, ypatybė – priesagos </a:t>
            </a:r>
            <a:r>
              <a:rPr lang="lt-LT" altLang="en-US" b="1" i="1"/>
              <a:t>–inis</a:t>
            </a:r>
            <a:r>
              <a:rPr lang="lt-LT" altLang="en-US"/>
              <a:t> būdvardis: </a:t>
            </a:r>
            <a:r>
              <a:rPr lang="lt-LT" altLang="en-US" i="1" u="sng"/>
              <a:t>metodinis</a:t>
            </a:r>
            <a:r>
              <a:rPr lang="lt-LT" altLang="en-US" i="1"/>
              <a:t> (metodikos) kabinetas), </a:t>
            </a:r>
            <a:r>
              <a:rPr lang="lt-LT" altLang="en-US" i="1" u="sng"/>
              <a:t>elektros</a:t>
            </a:r>
            <a:r>
              <a:rPr lang="lt-LT" altLang="en-US" i="1"/>
              <a:t> (elektrinė) viryklė, </a:t>
            </a:r>
            <a:r>
              <a:rPr lang="lt-LT" altLang="en-US" i="1" u="sng"/>
              <a:t>buities</a:t>
            </a:r>
            <a:r>
              <a:rPr lang="lt-LT" altLang="en-US" i="1"/>
              <a:t> (buitinės prekės).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983414F-D211-C003-130C-53330131A9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Priesaga </a:t>
            </a:r>
            <a:r>
              <a:rPr lang="lt-LT" altLang="en-US" i="1"/>
              <a:t>-inis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D673533-C5AD-A60C-FBEF-49C5A3EAD9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lt-LT" altLang="en-US" sz="2800"/>
              <a:t>2. Kai priesagos –inis būdvardis visiškai sinonimiškas daiktavardžio kilmininkui, geriau rinktis kilmininką, pvz.: pavasarinės (pavasario) gėlės; rinkiminė (rinkimų) apylinkė. </a:t>
            </a:r>
          </a:p>
          <a:p>
            <a:pPr eaLnBrk="1" hangingPunct="1"/>
            <a:r>
              <a:rPr lang="lt-LT" altLang="en-US" sz="2800" b="1" i="1"/>
              <a:t>-inis</a:t>
            </a:r>
            <a:r>
              <a:rPr lang="lt-LT" altLang="en-US" sz="2800"/>
              <a:t> vedinius reikėtų vartoti tada, kai kilmininkas yra dviprasmis, pvz.: </a:t>
            </a:r>
            <a:r>
              <a:rPr lang="lt-LT" altLang="en-US" sz="2800" i="1"/>
              <a:t>sunki materialinė </a:t>
            </a:r>
            <a:r>
              <a:rPr lang="lt-LT" altLang="en-US" sz="2800" b="1" i="1"/>
              <a:t>šeimos</a:t>
            </a:r>
            <a:r>
              <a:rPr lang="lt-LT" altLang="en-US" sz="2800" i="1"/>
              <a:t> padėtis – kokia jūsų </a:t>
            </a:r>
            <a:r>
              <a:rPr lang="lt-LT" altLang="en-US" sz="2800" b="1" i="1"/>
              <a:t>šeiminė</a:t>
            </a:r>
            <a:r>
              <a:rPr lang="lt-LT" altLang="en-US" sz="2800" i="1"/>
              <a:t> padėtis</a:t>
            </a:r>
            <a:r>
              <a:rPr lang="lt-LT" altLang="en-US" sz="2800"/>
              <a:t>, t.y. ar esate vedęs, turite vaikų.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B63D1F9-AB14-8DBD-BD6A-27F559FA0E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Priesaga </a:t>
            </a:r>
            <a:r>
              <a:rPr lang="lt-LT" altLang="en-US" i="1"/>
              <a:t>-inis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AB77CE8F-6714-2125-39FD-5319F3573C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lt-LT" altLang="en-US"/>
              <a:t>3. </a:t>
            </a:r>
            <a:r>
              <a:rPr lang="lt-LT" altLang="en-US" b="1" i="1"/>
              <a:t>–inis</a:t>
            </a:r>
            <a:r>
              <a:rPr lang="lt-LT" altLang="en-US"/>
              <a:t> vediniai netinka pareigų apimamai sričiai nusakyti, pvz.: </a:t>
            </a:r>
            <a:r>
              <a:rPr lang="lt-LT" altLang="en-US" i="1" u="sng"/>
              <a:t>ekonominis, finansinis</a:t>
            </a:r>
            <a:r>
              <a:rPr lang="lt-LT" altLang="en-US" i="1"/>
              <a:t> (ekonomikos, finansų) direktorius</a:t>
            </a:r>
            <a:r>
              <a:rPr lang="lt-LT" altLang="en-US"/>
              <a:t>.</a:t>
            </a:r>
          </a:p>
          <a:p>
            <a:pPr eaLnBrk="1" hangingPunct="1">
              <a:buFontTx/>
              <a:buNone/>
            </a:pPr>
            <a:r>
              <a:rPr lang="lt-LT" altLang="en-US"/>
              <a:t>Išimtys: </a:t>
            </a:r>
            <a:r>
              <a:rPr lang="lt-LT" altLang="en-US" i="1"/>
              <a:t>techninis redaktorius, direktorius.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481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72E8D8A-225D-CC70-6515-8B690FEA6A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Priesaga </a:t>
            </a:r>
            <a:r>
              <a:rPr lang="lt-LT" altLang="en-US" i="1"/>
              <a:t>-inis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B6BA5AA-1581-C3D9-0035-6070A007A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lt-LT" altLang="en-US" sz="2800"/>
              <a:t>4. Su priesaga </a:t>
            </a:r>
            <a:r>
              <a:rPr lang="lt-LT" altLang="en-US" sz="2800" b="1" i="1"/>
              <a:t>–inis</a:t>
            </a:r>
            <a:r>
              <a:rPr lang="lt-LT" altLang="en-US" sz="2800"/>
              <a:t> negalima daryti būdvardžių iš abstrakčiųjų daiktavardžių, jau turinčių priesagą </a:t>
            </a:r>
            <a:r>
              <a:rPr lang="lt-LT" altLang="en-US" sz="2800" b="1" i="1"/>
              <a:t>–umas, -imas</a:t>
            </a:r>
            <a:r>
              <a:rPr lang="lt-LT" altLang="en-US" sz="2800"/>
              <a:t> pvz.: </a:t>
            </a:r>
            <a:r>
              <a:rPr lang="lt-LT" altLang="en-US" sz="2800" i="1" u="sng"/>
              <a:t>giluminis</a:t>
            </a:r>
            <a:r>
              <a:rPr lang="lt-LT" altLang="en-US" sz="2800" i="1"/>
              <a:t> (gilusis) gręžinys, </a:t>
            </a:r>
            <a:r>
              <a:rPr lang="lt-LT" altLang="en-US" sz="2800" i="1" u="sng"/>
              <a:t>draudiminis</a:t>
            </a:r>
            <a:r>
              <a:rPr lang="lt-LT" altLang="en-US" sz="2800" i="1"/>
              <a:t> (draudimo, draudos) agentas.</a:t>
            </a:r>
          </a:p>
          <a:p>
            <a:pPr eaLnBrk="1" hangingPunct="1">
              <a:buFontTx/>
              <a:buNone/>
            </a:pPr>
            <a:r>
              <a:rPr lang="lt-LT" altLang="en-US" sz="2800"/>
              <a:t>5.</a:t>
            </a:r>
            <a:r>
              <a:rPr lang="lt-LT" altLang="en-US" sz="2800" i="1"/>
              <a:t> </a:t>
            </a:r>
            <a:r>
              <a:rPr lang="lt-LT" altLang="en-US" sz="2800"/>
              <a:t>Vietoj priesagos</a:t>
            </a:r>
            <a:r>
              <a:rPr lang="lt-LT" altLang="en-US" sz="2800" i="1"/>
              <a:t> </a:t>
            </a:r>
            <a:r>
              <a:rPr lang="lt-LT" altLang="en-US" sz="2800" b="1" i="1"/>
              <a:t>–inis</a:t>
            </a:r>
            <a:r>
              <a:rPr lang="lt-LT" altLang="en-US" sz="2800" i="1"/>
              <a:t> </a:t>
            </a:r>
            <a:r>
              <a:rPr lang="lt-LT" altLang="en-US" sz="2800"/>
              <a:t>vedinių geriau vartoti dūrinius su galūne</a:t>
            </a:r>
            <a:r>
              <a:rPr lang="lt-LT" altLang="en-US" sz="2800" i="1"/>
              <a:t>, pvz.: </a:t>
            </a:r>
            <a:r>
              <a:rPr lang="lt-LT" altLang="en-US" sz="2800" i="1" u="sng"/>
              <a:t>mažagabaritinis</a:t>
            </a:r>
            <a:r>
              <a:rPr lang="lt-LT" altLang="en-US" sz="2800" i="1"/>
              <a:t> (mažagabaritis), </a:t>
            </a:r>
            <a:r>
              <a:rPr lang="lt-LT" altLang="en-US" sz="2800" i="1" u="sng"/>
              <a:t>trumpametražinis</a:t>
            </a:r>
            <a:r>
              <a:rPr lang="lt-LT" altLang="en-US" sz="2800" i="1"/>
              <a:t> (trumpametražis)</a:t>
            </a:r>
            <a:r>
              <a:rPr lang="en-US" altLang="en-US" sz="2800" i="1"/>
              <a:t>, </a:t>
            </a:r>
            <a:r>
              <a:rPr lang="en-US" altLang="en-US" sz="2800" i="1" u="sng"/>
              <a:t>bendrauniversitetinis</a:t>
            </a:r>
            <a:r>
              <a:rPr lang="en-US" altLang="en-US" sz="2800" i="1"/>
              <a:t> (bendras universiteto)</a:t>
            </a:r>
            <a:r>
              <a:rPr lang="lt-LT" altLang="en-US" sz="2800" i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  <p:bldP spid="3686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1FC24D2-1BE4-3C4E-18C2-F6C40A2151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Priesaga </a:t>
            </a:r>
            <a:r>
              <a:rPr lang="lt-LT" altLang="en-US" i="1"/>
              <a:t>-inis</a:t>
            </a:r>
            <a:endParaRPr lang="en-US" altLang="en-US" i="1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A339C60-4D11-AD6E-599D-F596B77700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/>
              <a:t>7. Nevartotini –inis vediniai </a:t>
            </a:r>
            <a:r>
              <a:rPr lang="lt-LT" altLang="en-US" sz="2800"/>
              <a:t>su priešdėliu be-, juos reikia keisti galūnės vediniais, pvz.: </a:t>
            </a:r>
            <a:r>
              <a:rPr lang="lt-LT" altLang="en-US" sz="2800" i="1" u="sng"/>
              <a:t>bejungtukinis</a:t>
            </a:r>
            <a:r>
              <a:rPr lang="lt-LT" altLang="en-US" sz="2800" i="1"/>
              <a:t> (bejungtukis), </a:t>
            </a:r>
            <a:r>
              <a:rPr lang="lt-LT" altLang="en-US" sz="2800" i="1" u="sng"/>
              <a:t>begarsinis </a:t>
            </a:r>
            <a:r>
              <a:rPr lang="lt-LT" altLang="en-US" sz="2800" i="1"/>
              <a:t>(begarsis), </a:t>
            </a:r>
            <a:r>
              <a:rPr lang="lt-LT" altLang="en-US" sz="2800" i="1" u="sng"/>
              <a:t>bealkoholinis</a:t>
            </a:r>
            <a:r>
              <a:rPr lang="lt-LT" altLang="en-US" sz="2800" i="1"/>
              <a:t> (be alkoholio, nealkoholinis).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8.</a:t>
            </a:r>
            <a:r>
              <a:rPr lang="lt-LT" altLang="en-US" sz="2800"/>
              <a:t>P</a:t>
            </a:r>
            <a:r>
              <a:rPr lang="en-US" altLang="en-US" sz="2800"/>
              <a:t>rie</a:t>
            </a:r>
            <a:r>
              <a:rPr lang="lt-LT" altLang="en-US" sz="2800"/>
              <a:t>š</a:t>
            </a:r>
            <a:r>
              <a:rPr lang="en-US" altLang="en-US" sz="2800"/>
              <a:t> priesag</a:t>
            </a:r>
            <a:r>
              <a:rPr lang="lt-LT" altLang="en-US" sz="2800"/>
              <a:t>ą –inis paprastai praleidžiamos tarptautinių žodžių priesagos </a:t>
            </a:r>
            <a:r>
              <a:rPr lang="lt-LT" altLang="en-US" sz="2800" b="1" i="1"/>
              <a:t>–ij</a:t>
            </a:r>
            <a:r>
              <a:rPr lang="lt-LT" altLang="en-US" sz="2800"/>
              <a:t> ir </a:t>
            </a:r>
            <a:r>
              <a:rPr lang="lt-LT" altLang="en-US" sz="2800" b="1" i="1"/>
              <a:t>–ik</a:t>
            </a:r>
            <a:r>
              <a:rPr lang="lt-LT" altLang="en-US" sz="2800"/>
              <a:t>, pvz.: </a:t>
            </a:r>
            <a:r>
              <a:rPr lang="lt-LT" altLang="en-US" sz="2800" i="1"/>
              <a:t>akcinis iš akcija;</a:t>
            </a:r>
            <a:r>
              <a:rPr lang="lt-LT" altLang="en-US" sz="2800"/>
              <a:t> </a:t>
            </a:r>
          </a:p>
          <a:p>
            <a:pPr eaLnBrk="1" hangingPunct="1">
              <a:buFontTx/>
              <a:buNone/>
            </a:pPr>
            <a:r>
              <a:rPr lang="lt-LT" altLang="en-US" sz="2800"/>
              <a:t>Išimtys: </a:t>
            </a:r>
            <a:r>
              <a:rPr lang="lt-LT" altLang="en-US" sz="2800" i="1"/>
              <a:t>kolonijinis </a:t>
            </a:r>
            <a:r>
              <a:rPr lang="lt-LT" altLang="en-US" sz="2800"/>
              <a:t>iš</a:t>
            </a:r>
            <a:r>
              <a:rPr lang="lt-LT" altLang="en-US" sz="2800" i="1"/>
              <a:t> kolonija</a:t>
            </a:r>
            <a:r>
              <a:rPr lang="lt-LT" altLang="en-US" sz="2800"/>
              <a:t>, </a:t>
            </a:r>
            <a:r>
              <a:rPr lang="lt-LT" altLang="en-US" sz="2800" i="1"/>
              <a:t>linijinis </a:t>
            </a:r>
            <a:r>
              <a:rPr lang="lt-LT" altLang="en-US" sz="2800"/>
              <a:t>iš</a:t>
            </a:r>
            <a:r>
              <a:rPr lang="lt-LT" altLang="en-US" sz="2800" i="1"/>
              <a:t> linija, muzikinis iš muzika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  <p:bldP spid="3891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7EC4FBC-51EA-CD61-0430-6F77C9EA46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Priesaga </a:t>
            </a:r>
            <a:r>
              <a:rPr lang="lt-LT" altLang="en-US" i="1"/>
              <a:t>-inis</a:t>
            </a:r>
            <a:endParaRPr lang="en-US" altLang="en-US" i="1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A88DE98D-A231-205F-31D3-B31AA26999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lt-LT" altLang="en-US"/>
              <a:t>9. Kartais –inis vediniai nesiskiria nuo –iškas vedinių. Tos pačios šaknies </a:t>
            </a:r>
            <a:r>
              <a:rPr lang="lt-LT" altLang="en-US" b="1" i="1"/>
              <a:t>–iškas</a:t>
            </a:r>
            <a:r>
              <a:rPr lang="lt-LT" altLang="en-US"/>
              <a:t> vedinys reiškia </a:t>
            </a:r>
            <a:r>
              <a:rPr lang="lt-LT" altLang="en-US" b="1"/>
              <a:t>kokybinę</a:t>
            </a:r>
            <a:r>
              <a:rPr lang="lt-LT" altLang="en-US"/>
              <a:t>, o </a:t>
            </a:r>
            <a:r>
              <a:rPr lang="lt-LT" altLang="en-US" b="1" i="1"/>
              <a:t>–inis</a:t>
            </a:r>
            <a:r>
              <a:rPr lang="lt-LT" altLang="en-US"/>
              <a:t> – </a:t>
            </a:r>
            <a:r>
              <a:rPr lang="lt-LT" altLang="en-US" b="1"/>
              <a:t>rūšinę, išskiriamąją</a:t>
            </a:r>
            <a:r>
              <a:rPr lang="lt-LT" altLang="en-US"/>
              <a:t> ypatybę, </a:t>
            </a:r>
          </a:p>
          <a:p>
            <a:pPr eaLnBrk="1" hangingPunct="1">
              <a:buFontTx/>
              <a:buNone/>
            </a:pPr>
            <a:r>
              <a:rPr lang="lt-LT" altLang="en-US"/>
              <a:t>pvz.: </a:t>
            </a:r>
            <a:r>
              <a:rPr lang="lt-LT" altLang="en-US" i="1"/>
              <a:t>visuomeniškas darbas, visuomeninė veikla; </a:t>
            </a:r>
          </a:p>
          <a:p>
            <a:pPr eaLnBrk="1" hangingPunct="1">
              <a:buFontTx/>
              <a:buNone/>
            </a:pPr>
            <a:r>
              <a:rPr lang="lt-LT" altLang="en-US" i="1"/>
              <a:t>viršutinis žemės sluoksnis, paviršutiniškas sprendimas</a:t>
            </a:r>
            <a:endParaRPr lang="en-US" altLang="en-US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/>
      <p:bldP spid="4096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01A5C2D-FB63-0ECA-C67D-57735E18EB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Priesaga </a:t>
            </a:r>
            <a:r>
              <a:rPr lang="lt-LT" altLang="en-US" i="1"/>
              <a:t>-inis</a:t>
            </a:r>
            <a:endParaRPr lang="en-US" altLang="en-US" i="1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E5901E69-C735-AFAB-FC48-B0CA8F4CB9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/>
              <a:t>10.</a:t>
            </a:r>
            <a:r>
              <a:rPr lang="lt-LT" altLang="en-US"/>
              <a:t> Keistini būdvardžiai su priesagomis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lt-LT" altLang="en-US" b="1" i="1"/>
              <a:t>-alinis, -arinis, -atinis, -etinis, -yvinis, -orinis,</a:t>
            </a:r>
            <a:r>
              <a:rPr lang="lt-LT" altLang="en-US"/>
              <a:t> pvz.: </a:t>
            </a:r>
            <a:r>
              <a:rPr lang="lt-LT" altLang="en-US" i="1" u="sng"/>
              <a:t>emocionalinis</a:t>
            </a:r>
            <a:r>
              <a:rPr lang="lt-LT" altLang="en-US" i="1"/>
              <a:t> (emocinis), </a:t>
            </a:r>
            <a:r>
              <a:rPr lang="lt-LT" altLang="en-US" i="1" u="sng"/>
              <a:t>parlamentarinė </a:t>
            </a:r>
            <a:r>
              <a:rPr lang="lt-LT" altLang="en-US" i="1"/>
              <a:t>(parlamentinė) respublika, </a:t>
            </a:r>
            <a:r>
              <a:rPr lang="lt-LT" altLang="en-US" i="1" u="sng"/>
              <a:t>problematinis</a:t>
            </a:r>
            <a:r>
              <a:rPr lang="lt-LT" altLang="en-US" i="1"/>
              <a:t> (probleminis) klausimas, </a:t>
            </a:r>
            <a:r>
              <a:rPr lang="lt-LT" altLang="en-US" i="1" u="sng"/>
              <a:t>energetinės</a:t>
            </a:r>
            <a:r>
              <a:rPr lang="lt-LT" altLang="en-US" i="1"/>
              <a:t> (energijos) sąnaudos, </a:t>
            </a:r>
            <a:r>
              <a:rPr lang="lt-LT" altLang="en-US" i="1" u="sng"/>
              <a:t>dekoratyvinis</a:t>
            </a:r>
            <a:r>
              <a:rPr lang="lt-LT" altLang="en-US" i="1"/>
              <a:t> (dekoratyvusis) augalas, </a:t>
            </a:r>
            <a:r>
              <a:rPr lang="lt-LT" altLang="en-US" i="1" u="sng"/>
              <a:t>iliuzorinis</a:t>
            </a:r>
            <a:r>
              <a:rPr lang="lt-LT" altLang="en-US" i="1"/>
              <a:t> (iliuzinis, iliuzijų) pasaulis</a:t>
            </a:r>
            <a:r>
              <a:rPr lang="lt-LT" altLang="en-US"/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lt-LT" altLang="en-US"/>
              <a:t>Bet: </a:t>
            </a:r>
            <a:r>
              <a:rPr lang="lt-LT" altLang="en-US" i="1"/>
              <a:t>pragmatinis, patriarchalinis, memorialinis.</a:t>
            </a:r>
            <a:endParaRPr lang="en-US" altLang="en-US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4301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C15E4B59-CF7A-F713-6DA8-265A6E5EA7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Priesaga </a:t>
            </a:r>
            <a:r>
              <a:rPr lang="lt-LT" altLang="en-US" i="1"/>
              <a:t>–iš</a:t>
            </a:r>
            <a:r>
              <a:rPr lang="en-US" altLang="en-US" i="1"/>
              <a:t>kas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F1D698FE-9711-0953-DE92-0F2A263324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en-US"/>
              <a:t>1. Nevartotini</a:t>
            </a:r>
            <a:r>
              <a:rPr lang="lt-LT" altLang="en-US"/>
              <a:t> vediniai veikėjo priklausymui kokiai nors kategorijai, tautybei reikšti, pvz.: švediškieji (švedų) sportininkai, katalikiška (katalikų) bendruomenė.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/>
              <a:t>2.</a:t>
            </a:r>
            <a:r>
              <a:rPr lang="lt-LT" altLang="en-US"/>
              <a:t> Vedinius, žyminčius </a:t>
            </a:r>
            <a:r>
              <a:rPr lang="lt-LT" altLang="en-US" b="1"/>
              <a:t>esminę ypatybę</a:t>
            </a:r>
            <a:r>
              <a:rPr lang="lt-LT" altLang="en-US"/>
              <a:t>, reikia keisti priesaga </a:t>
            </a:r>
            <a:r>
              <a:rPr lang="lt-LT" altLang="en-US" b="1" i="1"/>
              <a:t>–inis </a:t>
            </a:r>
            <a:r>
              <a:rPr lang="lt-LT" altLang="en-US"/>
              <a:t>arba kilmininku, pvz.: </a:t>
            </a:r>
            <a:r>
              <a:rPr lang="lt-LT" altLang="en-US" i="1" u="sng"/>
              <a:t>moksliška</a:t>
            </a:r>
            <a:r>
              <a:rPr lang="lt-LT" altLang="en-US" i="1"/>
              <a:t> (mokslinė) konferencija, </a:t>
            </a:r>
            <a:r>
              <a:rPr lang="lt-LT" altLang="en-US" i="1" u="sng"/>
              <a:t>graikiški </a:t>
            </a:r>
            <a:r>
              <a:rPr lang="lt-LT" altLang="en-US" i="1"/>
              <a:t>(graikiniai) riešutai</a:t>
            </a:r>
            <a:r>
              <a:rPr lang="lt-LT" altLang="en-US"/>
              <a:t>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/>
      <p:bldP spid="4505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4E25600-78F8-B054-D8B9-13ADD584D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Priesaga </a:t>
            </a:r>
            <a:r>
              <a:rPr lang="lt-LT" altLang="en-US" i="1"/>
              <a:t>–iš</a:t>
            </a:r>
            <a:r>
              <a:rPr lang="en-US" altLang="en-US" i="1"/>
              <a:t>kas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64C3364C-F007-30A8-17D7-AD84135520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3.</a:t>
            </a:r>
            <a:r>
              <a:rPr lang="lt-LT" altLang="en-US"/>
              <a:t> Dūriniams geriau tinka ne priesaga, o galūnė, pvz.: </a:t>
            </a:r>
            <a:r>
              <a:rPr lang="lt-LT" altLang="en-US" i="1" u="sng"/>
              <a:t>daugiareikšmiškas</a:t>
            </a:r>
            <a:r>
              <a:rPr lang="lt-LT" altLang="en-US" i="1"/>
              <a:t> (daugiareikšmis), </a:t>
            </a:r>
            <a:r>
              <a:rPr lang="lt-LT" altLang="en-US" i="1" u="sng"/>
              <a:t>bejausmiškas</a:t>
            </a:r>
            <a:r>
              <a:rPr lang="lt-LT" altLang="en-US" i="1"/>
              <a:t> (bejausmis)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  <p:bldP spid="4710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9704109-F06E-0E3F-EA8D-4BA484C729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Priesaga </a:t>
            </a:r>
            <a:r>
              <a:rPr lang="lt-LT" altLang="en-US" i="1"/>
              <a:t>–tinas</a:t>
            </a:r>
            <a:endParaRPr lang="en-US" altLang="en-US" i="1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AA1BCD8-57A9-540A-E12D-88BDD74834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lt-LT" altLang="en-US"/>
              <a:t>Kai kuriais atvejais reikia keisti priesagos </a:t>
            </a:r>
            <a:r>
              <a:rPr lang="lt-LT" altLang="en-US" b="1" i="1"/>
              <a:t>–inis</a:t>
            </a:r>
            <a:r>
              <a:rPr lang="lt-LT" altLang="en-US"/>
              <a:t> vediniais, pvz.: </a:t>
            </a:r>
            <a:r>
              <a:rPr lang="lt-LT" altLang="en-US" i="1" u="sng"/>
              <a:t>dirbtinas </a:t>
            </a:r>
            <a:r>
              <a:rPr lang="lt-LT" altLang="en-US" i="1"/>
              <a:t>(dirbtinis) medus, </a:t>
            </a:r>
            <a:r>
              <a:rPr lang="lt-LT" altLang="en-US" i="1" u="sng"/>
              <a:t>pakartotini</a:t>
            </a:r>
            <a:r>
              <a:rPr lang="lt-LT" altLang="en-US" i="1"/>
              <a:t> (pakartotiniai) rinkimai</a:t>
            </a:r>
            <a:r>
              <a:rPr lang="lt-LT" altLang="en-US"/>
              <a:t>, </a:t>
            </a:r>
            <a:r>
              <a:rPr lang="lt-LT" altLang="en-US" i="1" u="sng"/>
              <a:t>išimtina</a:t>
            </a:r>
            <a:r>
              <a:rPr lang="lt-LT" altLang="en-US"/>
              <a:t> </a:t>
            </a:r>
            <a:r>
              <a:rPr lang="lt-LT" altLang="en-US" i="1"/>
              <a:t>(išimtinė) priežiūra</a:t>
            </a:r>
            <a:r>
              <a:rPr lang="lt-LT" altLang="en-US"/>
              <a:t>.</a:t>
            </a: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3C9AB74-8CF4-8A4D-2857-BAE371E7BF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Priesaga </a:t>
            </a:r>
            <a:r>
              <a:rPr lang="lt-LT" altLang="en-US" i="1"/>
              <a:t>–avas</a:t>
            </a:r>
            <a:endParaRPr lang="en-US" altLang="en-US" i="1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ABE3DC0-A76B-B07C-9ADA-444BC5130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lt-LT" altLang="en-US"/>
              <a:t>   Neteiktina slaviškos kilmės priesaga, pvz.: </a:t>
            </a:r>
            <a:r>
              <a:rPr lang="lt-LT" altLang="en-US" i="1" u="sng"/>
              <a:t>ružava</a:t>
            </a:r>
            <a:r>
              <a:rPr lang="lt-LT" altLang="en-US" i="1"/>
              <a:t> (rožinė, rausva), </a:t>
            </a:r>
            <a:r>
              <a:rPr lang="lt-LT" altLang="en-US" i="1" u="sng"/>
              <a:t>bordavas</a:t>
            </a:r>
            <a:r>
              <a:rPr lang="lt-LT" altLang="en-US" i="1"/>
              <a:t> (vyšninis, tamsiai raudonas.</a:t>
            </a:r>
            <a:endParaRPr lang="en-US" altLang="en-US" i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CE51A2B-D557-EEB0-51A3-BF75586DBE8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lt-LT" altLang="en-US" sz="4400"/>
              <a:t>Priesaginiai veiksmažodžiai</a:t>
            </a:r>
            <a:endParaRPr lang="en-US" altLang="en-US" sz="4400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FF1C364-2E87-33F1-30AF-10B18E2A5E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r>
              <a:rPr lang="lt-LT" altLang="en-US" sz="3200" dirty="0"/>
              <a:t>Vartojimo atvejai</a:t>
            </a:r>
            <a:endParaRPr lang="en-US" alt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21593C1-1388-DE06-25DB-4BF40469DD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Priesagos </a:t>
            </a:r>
            <a:r>
              <a:rPr lang="en-US" altLang="en-US" i="1"/>
              <a:t>–in</a:t>
            </a:r>
            <a:r>
              <a:rPr lang="lt-LT" altLang="en-US" i="1"/>
              <a:t>ė</a:t>
            </a:r>
            <a:r>
              <a:rPr lang="en-US" altLang="en-US" i="1"/>
              <a:t>ti, -din</a:t>
            </a:r>
            <a:r>
              <a:rPr lang="lt-LT" altLang="en-US" i="1"/>
              <a:t>ė</a:t>
            </a:r>
            <a:r>
              <a:rPr lang="en-US" altLang="en-US" i="1"/>
              <a:t>ti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3D0FC150-32CB-7F9F-604F-88E39BBC1F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lt-LT" altLang="en-US"/>
              <a:t>Žymi kartotinį veiksmą, pvz.: </a:t>
            </a:r>
            <a:r>
              <a:rPr lang="lt-LT" altLang="en-US" i="1"/>
              <a:t>tuo metu skaitinėjau laikraščius; jis perrašinėjo pratimą</a:t>
            </a:r>
            <a:r>
              <a:rPr lang="lt-LT" altLang="en-US"/>
              <a:t>.</a:t>
            </a:r>
          </a:p>
          <a:p>
            <a:pPr eaLnBrk="1" hangingPunct="1">
              <a:buFontTx/>
              <a:buNone/>
            </a:pPr>
            <a:r>
              <a:rPr lang="lt-LT" altLang="en-US"/>
              <a:t>Reikia keisti su šiomis priesagomis sudarytus veiksmažodžius, kurie reiškia </a:t>
            </a:r>
            <a:r>
              <a:rPr lang="lt-LT" altLang="en-US" b="1" u="sng"/>
              <a:t>ne kartotinį, o tęstinį kartinį veiksmą</a:t>
            </a:r>
            <a:r>
              <a:rPr lang="lt-LT" altLang="en-US"/>
              <a:t>, pvz., </a:t>
            </a:r>
            <a:r>
              <a:rPr lang="lt-LT" altLang="en-US" i="1"/>
              <a:t>kai </a:t>
            </a:r>
            <a:r>
              <a:rPr lang="lt-LT" altLang="en-US" i="1" u="sng"/>
              <a:t>pereidinėjau</a:t>
            </a:r>
            <a:r>
              <a:rPr lang="lt-LT" altLang="en-US" i="1"/>
              <a:t> (ėjau per) gatvę; mes jau </a:t>
            </a:r>
            <a:r>
              <a:rPr lang="lt-LT" altLang="en-US" i="1" u="sng"/>
              <a:t>pralaiminėjame </a:t>
            </a:r>
            <a:r>
              <a:rPr lang="lt-LT" altLang="en-US" i="1"/>
              <a:t>(pralaimime).</a:t>
            </a:r>
            <a:endParaRPr lang="en-US" altLang="en-US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/>
      <p:bldP spid="5529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D0D64A9-8B83-4392-292D-EF304F06EF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Priesaga </a:t>
            </a:r>
            <a:r>
              <a:rPr lang="lt-LT" altLang="en-US" i="1"/>
              <a:t>-avoti</a:t>
            </a:r>
            <a:endParaRPr lang="en-US" altLang="en-US" i="1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48EE0AE-9F79-5BCF-423E-AAB00F1A40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lt-LT" altLang="en-US"/>
              <a:t>Lietuvių kalbai ypač neteiktini šios priesagos vediniai, pvz.: </a:t>
            </a:r>
            <a:r>
              <a:rPr lang="lt-LT" altLang="en-US" i="1" u="sng"/>
              <a:t>baliavoti</a:t>
            </a:r>
            <a:r>
              <a:rPr lang="lt-LT" altLang="en-US" i="1"/>
              <a:t> (švęsti), </a:t>
            </a:r>
            <a:r>
              <a:rPr lang="lt-LT" altLang="en-US" i="1" u="sng"/>
              <a:t>bėdavoti </a:t>
            </a:r>
            <a:r>
              <a:rPr lang="lt-LT" altLang="en-US" i="1"/>
              <a:t>(skųstis), </a:t>
            </a:r>
            <a:r>
              <a:rPr lang="lt-LT" altLang="en-US" i="1" u="sng"/>
              <a:t>komandavoti</a:t>
            </a:r>
            <a:r>
              <a:rPr lang="lt-LT" altLang="en-US" i="1"/>
              <a:t> (komanduoti, įsakinėti).</a:t>
            </a:r>
            <a:endParaRPr lang="en-US" altLang="en-US" i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FF9C86D-9093-CD45-D0F6-2969412D6E5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lt-LT" altLang="en-US" sz="4400"/>
              <a:t>Priesaginiai prieveiksmiai</a:t>
            </a:r>
            <a:endParaRPr lang="en-US" altLang="en-US" sz="4400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7BA4CAF-18F3-006D-7947-6E5CF21A05C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r>
              <a:rPr lang="lt-LT" altLang="en-US" sz="3200" dirty="0"/>
              <a:t>Vartojimo atvejai</a:t>
            </a:r>
            <a:endParaRPr lang="en-US" alt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C02D129-7603-5003-E1F1-C8D09F0101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 sz="4000"/>
              <a:t>Taisytini būdo prieveiksmiai, turintys galūnę </a:t>
            </a:r>
            <a:r>
              <a:rPr lang="lt-LT" altLang="en-US" sz="4000" i="1"/>
              <a:t>–(i)ai</a:t>
            </a:r>
            <a:r>
              <a:rPr lang="lt-LT" altLang="en-US" sz="4000"/>
              <a:t>, padaryti:</a:t>
            </a:r>
            <a:endParaRPr lang="en-US" altLang="en-US" sz="400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73F78BC-BAE8-4DC6-7868-3B66FC605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Iš būdvardžių su priesaga </a:t>
            </a:r>
            <a:r>
              <a:rPr lang="lt-LT" altLang="en-US" b="1" i="1"/>
              <a:t>–inis</a:t>
            </a:r>
            <a:r>
              <a:rPr lang="lt-LT" altLang="en-US"/>
              <a:t>, pvz.: </a:t>
            </a:r>
            <a:r>
              <a:rPr lang="lt-LT" altLang="en-US" i="1" u="sng"/>
              <a:t>asmeniniai</a:t>
            </a:r>
            <a:r>
              <a:rPr lang="lt-LT" altLang="en-US" i="1"/>
              <a:t> (asmeniškai), </a:t>
            </a:r>
            <a:r>
              <a:rPr lang="lt-LT" altLang="en-US" i="1" u="sng"/>
              <a:t>besąlyginiai </a:t>
            </a:r>
            <a:r>
              <a:rPr lang="lt-LT" altLang="en-US" i="1"/>
              <a:t>(besąlygiškai), </a:t>
            </a:r>
            <a:r>
              <a:rPr lang="lt-LT" altLang="en-US" i="1" u="sng"/>
              <a:t>principiniai</a:t>
            </a:r>
            <a:r>
              <a:rPr lang="lt-LT" altLang="en-US" i="1"/>
              <a:t> (iš principo), </a:t>
            </a:r>
            <a:r>
              <a:rPr lang="lt-LT" altLang="en-US" i="1" u="sng"/>
              <a:t>materialiniai</a:t>
            </a:r>
            <a:r>
              <a:rPr lang="lt-LT" altLang="en-US" i="1"/>
              <a:t> (materialiai).</a:t>
            </a:r>
          </a:p>
          <a:p>
            <a:pPr eaLnBrk="1" hangingPunct="1">
              <a:buFontTx/>
              <a:buNone/>
            </a:pPr>
            <a:r>
              <a:rPr lang="lt-LT" altLang="en-US"/>
              <a:t>Išimtis</a:t>
            </a:r>
            <a:r>
              <a:rPr lang="lt-LT" altLang="en-US" i="1"/>
              <a:t>: begaliniai.</a:t>
            </a:r>
          </a:p>
          <a:p>
            <a:pPr eaLnBrk="1" hangingPunct="1"/>
            <a:endParaRPr lang="en-US" altLang="en-US" i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0593A6F-03E2-9602-CFB8-F24C092E0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lt-LT" altLang="en-US" sz="4000"/>
              <a:t>Taisytini būdo prieveiksmiai su formantu </a:t>
            </a:r>
            <a:r>
              <a:rPr lang="lt-LT" altLang="en-US" sz="4000" i="1"/>
              <a:t>-(i)ai</a:t>
            </a:r>
            <a:r>
              <a:rPr lang="lt-LT" altLang="en-US" sz="4000"/>
              <a:t>, padaryti</a:t>
            </a:r>
            <a:endParaRPr lang="en-US" altLang="en-US" sz="4000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5E49E216-C5FF-2899-BB6E-F3EEAF9380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lt-LT" altLang="en-US"/>
              <a:t>iš santykinių būdvardžių, turinčių vienaskaitos vyriškosios giminės vardininko galūnę </a:t>
            </a:r>
            <a:r>
              <a:rPr lang="lt-LT" altLang="en-US" b="1" i="1"/>
              <a:t>–is,</a:t>
            </a:r>
            <a:r>
              <a:rPr lang="lt-LT" altLang="en-US"/>
              <a:t> o dgs. naud. </a:t>
            </a:r>
            <a:r>
              <a:rPr lang="lt-LT" altLang="en-US" b="1" i="1"/>
              <a:t>–(i)ams</a:t>
            </a:r>
            <a:r>
              <a:rPr lang="lt-LT" altLang="en-US"/>
              <a:t>  (pvz., bejėgis), pvz.: </a:t>
            </a:r>
            <a:r>
              <a:rPr lang="lt-LT" altLang="en-US" i="1" u="sng"/>
              <a:t>bejausmiai</a:t>
            </a:r>
            <a:r>
              <a:rPr lang="lt-LT" altLang="en-US" i="1"/>
              <a:t> (bejausmiškai), </a:t>
            </a:r>
            <a:r>
              <a:rPr lang="lt-LT" altLang="en-US" i="1" u="sng"/>
              <a:t>beprasmiai</a:t>
            </a:r>
            <a:r>
              <a:rPr lang="lt-LT" altLang="en-US" i="1"/>
              <a:t> (beprasmiškai), </a:t>
            </a:r>
            <a:r>
              <a:rPr lang="lt-LT" altLang="en-US" i="1" u="sng"/>
              <a:t>betiksliai</a:t>
            </a:r>
            <a:r>
              <a:rPr lang="lt-LT" altLang="en-US" i="1"/>
              <a:t> (be tikslo, betiksliškai).</a:t>
            </a:r>
          </a:p>
          <a:p>
            <a:pPr eaLnBrk="1" hangingPunct="1">
              <a:buFontTx/>
              <a:buNone/>
            </a:pPr>
            <a:r>
              <a:rPr lang="lt-LT" altLang="en-US"/>
              <a:t>Bet: </a:t>
            </a:r>
            <a:r>
              <a:rPr lang="lt-LT" altLang="en-US" i="1"/>
              <a:t>pusdykiai pardavė, tylutėliai atsiduso</a:t>
            </a:r>
            <a:r>
              <a:rPr lang="lt-LT" altLang="en-US"/>
              <a:t>.</a:t>
            </a:r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5E4DE-F98B-3154-D08E-5DD5AAB3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sz="2400" dirty="0"/>
              <a:t>Raskite netaisyklingus atvejus, ištaisykite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D9FB3-4772-994C-8B0B-760AC60CD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lt-LT" sz="1800" dirty="0"/>
              <a:t>Jis buvo praėjęs muitinės patikrinimo procedūras. </a:t>
            </a:r>
          </a:p>
          <a:p>
            <a:pPr>
              <a:buAutoNum type="arabicPeriod"/>
            </a:pPr>
            <a:r>
              <a:rPr lang="lt-LT" sz="1800" dirty="0"/>
              <a:t> Papuošė salę lengva, spalviniai tinkančia dekoracija. </a:t>
            </a:r>
          </a:p>
          <a:p>
            <a:pPr>
              <a:buAutoNum type="arabicPeriod"/>
            </a:pPr>
            <a:r>
              <a:rPr lang="lt-LT" sz="1800" dirty="0"/>
              <a:t> Ar pakanka įstatyminės bazės smulkiajam ir vidutiniam verslui?</a:t>
            </a:r>
          </a:p>
          <a:p>
            <a:pPr>
              <a:buAutoNum type="arabicPeriod"/>
            </a:pPr>
            <a:r>
              <a:rPr lang="lt-LT" sz="1800" dirty="0"/>
              <a:t>  Lango apkaustai su </a:t>
            </a:r>
            <a:r>
              <a:rPr lang="lt-LT" sz="1800" dirty="0" err="1"/>
              <a:t>priešįsilaužimine</a:t>
            </a:r>
            <a:r>
              <a:rPr lang="lt-LT" sz="1800" dirty="0"/>
              <a:t> sistema.</a:t>
            </a:r>
          </a:p>
          <a:p>
            <a:pPr>
              <a:buAutoNum type="arabicPeriod"/>
            </a:pPr>
            <a:r>
              <a:rPr lang="lt-LT" sz="1800" dirty="0"/>
              <a:t>  Kai pačiu netinkamiausiu metu išsikrauna telefonas, visada padės</a:t>
            </a:r>
          </a:p>
          <a:p>
            <a:pPr marL="0" indent="0">
              <a:buNone/>
            </a:pPr>
            <a:r>
              <a:rPr lang="lt-LT" sz="1800" dirty="0"/>
              <a:t>kelioninis pakrovėjas.</a:t>
            </a:r>
          </a:p>
          <a:p>
            <a:pPr marL="0" indent="0">
              <a:buNone/>
            </a:pPr>
            <a:r>
              <a:rPr lang="lt-LT" sz="1800" dirty="0"/>
              <a:t> 6. Alergines reakcijas gali sukelti ir antioksidantai ir balintojai.</a:t>
            </a:r>
          </a:p>
          <a:p>
            <a:pPr marL="0" indent="0">
              <a:buNone/>
            </a:pPr>
            <a:r>
              <a:rPr lang="lt-LT" sz="1800" dirty="0"/>
              <a:t> 7. Nevertėtų pamiršti, kad </a:t>
            </a:r>
            <a:r>
              <a:rPr lang="sv-SE" sz="1800" dirty="0"/>
              <a:t>laisvės sąvoka su ekonomika susijusi tik per ideologinius ir politekonominius</a:t>
            </a:r>
            <a:r>
              <a:rPr lang="lt-LT" sz="1800" dirty="0"/>
              <a:t> saitus.</a:t>
            </a:r>
          </a:p>
          <a:p>
            <a:pPr marL="0" indent="0">
              <a:buNone/>
            </a:pPr>
            <a:r>
              <a:rPr lang="lt-LT" sz="1800" dirty="0"/>
              <a:t> 8. Pasak konsultanto, dabar pravažiavimas Londono metro yra</a:t>
            </a:r>
          </a:p>
          <a:p>
            <a:pPr marL="0" indent="0">
              <a:buNone/>
            </a:pPr>
            <a:r>
              <a:rPr lang="lt-LT" sz="1800" dirty="0"/>
              <a:t>pats brangiausias pasaulyje. </a:t>
            </a:r>
          </a:p>
          <a:p>
            <a:pPr marL="0" indent="0">
              <a:buNone/>
            </a:pPr>
            <a:r>
              <a:rPr lang="lt-LT" sz="1800" dirty="0"/>
              <a:t>9. Vieno iš susidūrusių automobilių vairuotojas ką tik buvo stabtelėjęs degalinėje užsipilti benzino. </a:t>
            </a:r>
          </a:p>
          <a:p>
            <a:pPr marL="0" indent="0">
              <a:buNone/>
            </a:pPr>
            <a:r>
              <a:rPr lang="lt-LT" sz="1800" dirty="0"/>
              <a:t>10. Užmanymas surengti koncertą Panevėžyje vis dar gyvas.</a:t>
            </a:r>
          </a:p>
        </p:txBody>
      </p:sp>
    </p:spTree>
    <p:extLst>
      <p:ext uri="{BB962C8B-B14F-4D97-AF65-F5344CB8AC3E}">
        <p14:creationId xmlns:p14="http://schemas.microsoft.com/office/powerpoint/2010/main" val="22728806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31BDD-4153-493D-D634-074CBFF68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sz="2400" dirty="0"/>
              <a:t>Raskite netaisyklingus atvejus, ištaisykite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1FDD4-1E09-13D0-70E1-2C799F3F6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lt-LT" sz="1600" dirty="0"/>
              <a:t>Kuriant šią reklamą savanoriškai sudalyvavo beveik 100 žmonių.</a:t>
            </a:r>
          </a:p>
          <a:p>
            <a:pPr>
              <a:buFont typeface="+mj-lt"/>
              <a:buAutoNum type="arabicPeriod"/>
            </a:pPr>
            <a:r>
              <a:rPr lang="lt-LT" sz="1600" dirty="0"/>
              <a:t>Dokumentų, įrodančių, kad mes jį atremontavome, yra tik keletas. </a:t>
            </a:r>
          </a:p>
          <a:p>
            <a:pPr>
              <a:buFont typeface="+mj-lt"/>
              <a:buAutoNum type="arabicPeriod"/>
            </a:pPr>
            <a:r>
              <a:rPr lang="lt-LT" sz="1600" dirty="0"/>
              <a:t> Mieli klientai, mokėdami internetu, prašome griežtai prisilaikyti sąskaitoje nurodytų skaitiklių numerių eiliškumo, pildyti atidžiai ir tiksliai į nurodytas eilutes. </a:t>
            </a:r>
          </a:p>
          <a:p>
            <a:pPr>
              <a:buFont typeface="+mj-lt"/>
              <a:buAutoNum type="arabicPeriod"/>
            </a:pPr>
            <a:r>
              <a:rPr lang="lt-LT" sz="1600" dirty="0"/>
              <a:t>Bus svarstomas automobilių aptarnavimo centro Kaune techninis projektas. Jį projektuoja S. Mikštas (AB „</a:t>
            </a:r>
            <a:r>
              <a:rPr lang="lt-LT" sz="1600" dirty="0" err="1"/>
              <a:t>Miestprojektas</a:t>
            </a:r>
            <a:r>
              <a:rPr lang="lt-LT" sz="1600" dirty="0"/>
              <a:t>“). </a:t>
            </a:r>
          </a:p>
          <a:p>
            <a:pPr>
              <a:buFont typeface="+mj-lt"/>
              <a:buAutoNum type="arabicPeriod"/>
            </a:pPr>
            <a:r>
              <a:rPr lang="lt-LT" sz="1600" dirty="0"/>
              <a:t> Akims stiprinti skirtas medicininės paskirties produktas – natūralus, kurio sudėtyje esančios biologiškai aktyvios medžiagos yra suderintos cheminiu atžvilgiu. </a:t>
            </a:r>
          </a:p>
          <a:p>
            <a:pPr>
              <a:buFont typeface="+mj-lt"/>
              <a:buAutoNum type="arabicPeriod"/>
            </a:pPr>
            <a:r>
              <a:rPr lang="lt-LT" sz="1600" dirty="0"/>
              <a:t>Sunkių išgyvenimų, streso keliamos įtampos mažinimo būdai, emocinių ir asmenybinių problemų įveikimo būdai. </a:t>
            </a:r>
          </a:p>
          <a:p>
            <a:pPr>
              <a:buFont typeface="+mj-lt"/>
              <a:buAutoNum type="arabicPeriod"/>
            </a:pPr>
            <a:r>
              <a:rPr lang="lt-LT" sz="1600" dirty="0"/>
              <a:t>Rašant pakvietimus, reikia laikytis pakvietimų rašyme etiketo. </a:t>
            </a:r>
          </a:p>
          <a:p>
            <a:pPr>
              <a:buFont typeface="+mj-lt"/>
              <a:buAutoNum type="arabicPeriod"/>
            </a:pPr>
            <a:r>
              <a:rPr lang="lt-LT" sz="1600" dirty="0"/>
              <a:t> Begaliniai noriu nuvažiuoti į Romą.</a:t>
            </a:r>
          </a:p>
          <a:p>
            <a:pPr>
              <a:buFont typeface="+mj-lt"/>
              <a:buAutoNum type="arabicPeriod"/>
            </a:pPr>
            <a:r>
              <a:rPr lang="lt-LT" sz="1600" dirty="0"/>
              <a:t> Antanina sumurmėjo kažką beprasmiai sau po nosimi. </a:t>
            </a:r>
          </a:p>
          <a:p>
            <a:pPr>
              <a:buFont typeface="+mj-lt"/>
              <a:buAutoNum type="arabicPeriod"/>
            </a:pPr>
            <a:r>
              <a:rPr lang="lt-LT" sz="1600" dirty="0"/>
              <a:t>Prieš kelerius metus Jonas baiginėjo universitetą, bet, </a:t>
            </a:r>
            <a:r>
              <a:rPr lang="fi-FI" sz="1600" dirty="0"/>
              <a:t>sutrikus sveikatai, turėjo mesti mokslus</a:t>
            </a:r>
            <a:endParaRPr lang="lt-LT" sz="1600" dirty="0"/>
          </a:p>
        </p:txBody>
      </p:sp>
    </p:spTree>
    <p:extLst>
      <p:ext uri="{BB962C8B-B14F-4D97-AF65-F5344CB8AC3E}">
        <p14:creationId xmlns:p14="http://schemas.microsoft.com/office/powerpoint/2010/main" val="217559412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1622</Words>
  <Application>Microsoft Office PowerPoint</Application>
  <PresentationFormat>On-screen Show (4:3)</PresentationFormat>
  <Paragraphs>113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Wingdings</vt:lpstr>
      <vt:lpstr>Default Design</vt:lpstr>
      <vt:lpstr>Žodžių darybos normos ir klaidos</vt:lpstr>
      <vt:lpstr>Būdingiausios žodžių darybos klaidų priežastys</vt:lpstr>
      <vt:lpstr>Priesagų vediniai</vt:lpstr>
      <vt:lpstr>Priesaginiai daiktavardžiai 1.  -ėjas, -tojas</vt:lpstr>
      <vt:lpstr>2. -ietis</vt:lpstr>
      <vt:lpstr>2. -ietis</vt:lpstr>
      <vt:lpstr>3. -ija</vt:lpstr>
      <vt:lpstr>4. –imas ir -ymas</vt:lpstr>
      <vt:lpstr>5. –imas ir -ymas</vt:lpstr>
      <vt:lpstr>6. –umas </vt:lpstr>
      <vt:lpstr>Daiktavardžiai su taisytinomis svetimomis priesagomis</vt:lpstr>
      <vt:lpstr>Daiktavardžiai su taisytinomis svetimomis priesagomis</vt:lpstr>
      <vt:lpstr>Priesaginiai būdvardžiai</vt:lpstr>
      <vt:lpstr>Priesaga -inis</vt:lpstr>
      <vt:lpstr>Priesaga -inis</vt:lpstr>
      <vt:lpstr>Priesaga -inis</vt:lpstr>
      <vt:lpstr>Priesaga -inis</vt:lpstr>
      <vt:lpstr>Priesaga -inis</vt:lpstr>
      <vt:lpstr>Priesaga -inis</vt:lpstr>
      <vt:lpstr>Priesaga -inis</vt:lpstr>
      <vt:lpstr>Priesaga –iškas</vt:lpstr>
      <vt:lpstr>Priesaga –iškas</vt:lpstr>
      <vt:lpstr>Priesaga –tinas</vt:lpstr>
      <vt:lpstr>Priesaga –avas</vt:lpstr>
      <vt:lpstr>Priesaginiai veiksmažodžiai</vt:lpstr>
      <vt:lpstr>Priesagos –inėti, -dinėti</vt:lpstr>
      <vt:lpstr>Priesaga -avoti</vt:lpstr>
      <vt:lpstr>Priesaginiai prieveiksmiai</vt:lpstr>
      <vt:lpstr>Taisytini būdo prieveiksmiai, turintys galūnę –(i)ai, padaryti:</vt:lpstr>
      <vt:lpstr>Taisytini būdo prieveiksmiai su formantu -(i)ai, padaryti</vt:lpstr>
      <vt:lpstr>Raskite netaisyklingus atvejus, ištaisykite</vt:lpstr>
      <vt:lpstr>Raskite netaisyklingus atvejus, ištaisykite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Vilma Leonavičienė</dc:creator>
  <cp:lastModifiedBy>Vilma Leonavičienė</cp:lastModifiedBy>
  <cp:revision>30</cp:revision>
  <cp:lastPrinted>1601-01-01T00:00:00Z</cp:lastPrinted>
  <dcterms:created xsi:type="dcterms:W3CDTF">1601-01-01T00:00:00Z</dcterms:created>
  <dcterms:modified xsi:type="dcterms:W3CDTF">2026-03-30T12:26:13Z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