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8" r:id="rId3"/>
    <p:sldId id="259" r:id="rId4"/>
    <p:sldId id="261" r:id="rId5"/>
    <p:sldId id="263" r:id="rId6"/>
    <p:sldId id="265" r:id="rId7"/>
    <p:sldId id="267" r:id="rId8"/>
    <p:sldId id="269" r:id="rId9"/>
    <p:sldId id="274" r:id="rId10"/>
    <p:sldId id="275" r:id="rId11"/>
    <p:sldId id="273" r:id="rId12"/>
  </p:sldIdLst>
  <p:sldSz cx="9144000" cy="6858000" type="screen4x3"/>
  <p:notesSz cx="6858000" cy="9144000"/>
  <p:defaultTextStyle>
    <a:defPPr>
      <a:defRPr lang="lt-LT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A2C9FA5-202C-B9FE-25F6-0FD832BEB8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4AC6693-F70D-1ABC-6B25-0E86000C2C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DE1101D-1B6A-E9F0-E8AD-6D6AF5E7B7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5BA450-AF4A-4FF2-8205-D6E5DF00069D}" type="slidenum">
              <a:rPr lang="lt-LT" altLang="en-US"/>
              <a:pPr>
                <a:defRPr/>
              </a:pPr>
              <a:t>‹#›</a:t>
            </a:fld>
            <a:endParaRPr lang="lt-LT" altLang="en-US"/>
          </a:p>
        </p:txBody>
      </p:sp>
    </p:spTree>
    <p:extLst>
      <p:ext uri="{BB962C8B-B14F-4D97-AF65-F5344CB8AC3E}">
        <p14:creationId xmlns:p14="http://schemas.microsoft.com/office/powerpoint/2010/main" val="4184783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C9C9724-D9F3-A15D-2015-39A6648559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C36B197-F13C-2E41-DD40-6B583C25FD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2F2022B-04F0-25C6-2556-26FC64EF7D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CC4D97-DB11-4B3D-B1FD-F0A90D203CEF}" type="slidenum">
              <a:rPr lang="lt-LT" altLang="en-US"/>
              <a:pPr>
                <a:defRPr/>
              </a:pPr>
              <a:t>‹#›</a:t>
            </a:fld>
            <a:endParaRPr lang="lt-LT" altLang="en-US"/>
          </a:p>
        </p:txBody>
      </p:sp>
    </p:spTree>
    <p:extLst>
      <p:ext uri="{BB962C8B-B14F-4D97-AF65-F5344CB8AC3E}">
        <p14:creationId xmlns:p14="http://schemas.microsoft.com/office/powerpoint/2010/main" val="753965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05AF1A-1461-91A6-93F4-94D64F78E8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B4CFFC-BACF-63BF-0190-1065771153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261A5D4-5D1C-0002-1F04-6846F276D9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B56844-6838-4645-B494-331B329EB946}" type="slidenum">
              <a:rPr lang="lt-LT" altLang="en-US"/>
              <a:pPr>
                <a:defRPr/>
              </a:pPr>
              <a:t>‹#›</a:t>
            </a:fld>
            <a:endParaRPr lang="lt-LT" altLang="en-US"/>
          </a:p>
        </p:txBody>
      </p:sp>
    </p:spTree>
    <p:extLst>
      <p:ext uri="{BB962C8B-B14F-4D97-AF65-F5344CB8AC3E}">
        <p14:creationId xmlns:p14="http://schemas.microsoft.com/office/powerpoint/2010/main" val="4130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76AC22-A769-61F0-F8DD-F38772CAFE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CA5BC3-20BC-9774-8FA4-B52805D31D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A7C2B1-C1DD-1DC9-DB3C-241FBE7B6C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418A61-F09C-4A53-8B39-4C9F61A1FB2E}" type="slidenum">
              <a:rPr lang="lt-LT" altLang="en-US"/>
              <a:pPr>
                <a:defRPr/>
              </a:pPr>
              <a:t>‹#›</a:t>
            </a:fld>
            <a:endParaRPr lang="lt-LT" altLang="en-US"/>
          </a:p>
        </p:txBody>
      </p:sp>
    </p:spTree>
    <p:extLst>
      <p:ext uri="{BB962C8B-B14F-4D97-AF65-F5344CB8AC3E}">
        <p14:creationId xmlns:p14="http://schemas.microsoft.com/office/powerpoint/2010/main" val="3201298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27F813D-1C5B-0B44-E262-AC79F7D8EC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2B0DE6C-67EB-4AB8-3F1A-15F0CC37DD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FB92BAA-50D7-3E54-CE48-9732A00368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AD145D-98A9-41D8-8AA2-51328B6FA920}" type="slidenum">
              <a:rPr lang="lt-LT" altLang="en-US"/>
              <a:pPr>
                <a:defRPr/>
              </a:pPr>
              <a:t>‹#›</a:t>
            </a:fld>
            <a:endParaRPr lang="lt-LT" altLang="en-US"/>
          </a:p>
        </p:txBody>
      </p:sp>
    </p:spTree>
    <p:extLst>
      <p:ext uri="{BB962C8B-B14F-4D97-AF65-F5344CB8AC3E}">
        <p14:creationId xmlns:p14="http://schemas.microsoft.com/office/powerpoint/2010/main" val="911088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AED1B64-2B22-0353-7864-3DA63B857D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FE748E6-7F8E-4A7D-BD1B-AA2D5D8E45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5BA5741-2C5D-997C-FA34-4E434721AB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B4384D-099E-490D-8F44-26A84D3FDE87}" type="slidenum">
              <a:rPr lang="lt-LT" altLang="en-US"/>
              <a:pPr>
                <a:defRPr/>
              </a:pPr>
              <a:t>‹#›</a:t>
            </a:fld>
            <a:endParaRPr lang="lt-LT" altLang="en-US"/>
          </a:p>
        </p:txBody>
      </p:sp>
    </p:spTree>
    <p:extLst>
      <p:ext uri="{BB962C8B-B14F-4D97-AF65-F5344CB8AC3E}">
        <p14:creationId xmlns:p14="http://schemas.microsoft.com/office/powerpoint/2010/main" val="2117745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D51E928-125C-B70F-9AE1-52E95C3EC5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FE007DD-E053-9D57-5A25-219AE4431D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97F03E4-F617-50E2-F22E-6A8F4B9F71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C0CD47-BE9E-403B-971C-52833857225A}" type="slidenum">
              <a:rPr lang="lt-LT" altLang="en-US"/>
              <a:pPr>
                <a:defRPr/>
              </a:pPr>
              <a:t>‹#›</a:t>
            </a:fld>
            <a:endParaRPr lang="lt-LT" altLang="en-US"/>
          </a:p>
        </p:txBody>
      </p:sp>
    </p:spTree>
    <p:extLst>
      <p:ext uri="{BB962C8B-B14F-4D97-AF65-F5344CB8AC3E}">
        <p14:creationId xmlns:p14="http://schemas.microsoft.com/office/powerpoint/2010/main" val="2174916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C982D7-5558-17BF-FA54-F3864AECBD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DB89D8-1809-9CB2-BA45-377D6D94A0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4112C1-10D6-E63C-6A2B-9D5F224B4C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B08C98-C33C-4C8F-97B6-59D8542FF73A}" type="slidenum">
              <a:rPr lang="lt-LT" altLang="en-US"/>
              <a:pPr>
                <a:defRPr/>
              </a:pPr>
              <a:t>‹#›</a:t>
            </a:fld>
            <a:endParaRPr lang="lt-LT" altLang="en-US"/>
          </a:p>
        </p:txBody>
      </p:sp>
    </p:spTree>
    <p:extLst>
      <p:ext uri="{BB962C8B-B14F-4D97-AF65-F5344CB8AC3E}">
        <p14:creationId xmlns:p14="http://schemas.microsoft.com/office/powerpoint/2010/main" val="3695070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41A5C3-DABB-7DCD-AEF5-9F0F514D8A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38AE22-BD00-8694-6E9A-9C00C7E0BE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C98C5D-F207-06F9-AD5F-023D809CE7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9391E8-05FF-49BF-9E52-D689EFD45CE5}" type="slidenum">
              <a:rPr lang="lt-LT" altLang="en-US"/>
              <a:pPr>
                <a:defRPr/>
              </a:pPr>
              <a:t>‹#›</a:t>
            </a:fld>
            <a:endParaRPr lang="lt-LT" altLang="en-US"/>
          </a:p>
        </p:txBody>
      </p:sp>
    </p:spTree>
    <p:extLst>
      <p:ext uri="{BB962C8B-B14F-4D97-AF65-F5344CB8AC3E}">
        <p14:creationId xmlns:p14="http://schemas.microsoft.com/office/powerpoint/2010/main" val="4180876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539BC1C-2DA0-FFD6-01BA-8EE8A8AAD3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B3980D-367E-EB82-7761-6E043650E4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259ED88-CCC7-DB0A-A979-F6D1463A3F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6B32B6-AE24-493D-9EEA-73B51111126D}" type="slidenum">
              <a:rPr lang="lt-LT" altLang="en-US"/>
              <a:pPr>
                <a:defRPr/>
              </a:pPr>
              <a:t>‹#›</a:t>
            </a:fld>
            <a:endParaRPr lang="lt-LT" altLang="en-US"/>
          </a:p>
        </p:txBody>
      </p:sp>
    </p:spTree>
    <p:extLst>
      <p:ext uri="{BB962C8B-B14F-4D97-AF65-F5344CB8AC3E}">
        <p14:creationId xmlns:p14="http://schemas.microsoft.com/office/powerpoint/2010/main" val="1687902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F3F3B4F-828B-9948-95B8-37CC7B2B49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82A1883-2DA4-A6BA-C064-DEFE61863A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6BFA210-7C16-5477-AC9E-7A95105A90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B0823A-D378-4544-96DB-D3004BF0749D}" type="slidenum">
              <a:rPr lang="lt-LT" altLang="en-US"/>
              <a:pPr>
                <a:defRPr/>
              </a:pPr>
              <a:t>‹#›</a:t>
            </a:fld>
            <a:endParaRPr lang="lt-LT" altLang="en-US"/>
          </a:p>
        </p:txBody>
      </p:sp>
    </p:spTree>
    <p:extLst>
      <p:ext uri="{BB962C8B-B14F-4D97-AF65-F5344CB8AC3E}">
        <p14:creationId xmlns:p14="http://schemas.microsoft.com/office/powerpoint/2010/main" val="151539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CF32EFB-CD3F-75C7-13B7-84EBD44D5F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lt-LT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A2D2E8A-52F3-AF2E-0E78-8CC7129B39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lt-LT" altLang="en-US"/>
              <a:t>Click to edit Master text styles</a:t>
            </a:r>
          </a:p>
          <a:p>
            <a:pPr lvl="1"/>
            <a:r>
              <a:rPr lang="lt-LT" altLang="en-US"/>
              <a:t>Second level</a:t>
            </a:r>
          </a:p>
          <a:p>
            <a:pPr lvl="2"/>
            <a:r>
              <a:rPr lang="lt-LT" altLang="en-US"/>
              <a:t>Third level</a:t>
            </a:r>
          </a:p>
          <a:p>
            <a:pPr lvl="3"/>
            <a:r>
              <a:rPr lang="lt-LT" altLang="en-US"/>
              <a:t>Fourth level</a:t>
            </a:r>
          </a:p>
          <a:p>
            <a:pPr lvl="4"/>
            <a:r>
              <a:rPr lang="lt-LT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90CFF75-3EA9-C2EC-9D59-730FDCDBC42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AF2DEA1-BCC6-2545-25E4-4EA8C81C472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45E17D4-E9DA-D3CB-8CF6-0E7D2E1D6FF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826DAD30-81A1-41D4-AE1A-9E8DCB3B1E2A}" type="slidenum">
              <a:rPr lang="lt-LT" altLang="en-US"/>
              <a:pPr>
                <a:defRPr/>
              </a:pPr>
              <a:t>‹#›</a:t>
            </a:fld>
            <a:endParaRPr lang="lt-LT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0DE1F624-8516-AA74-ECF1-9AF273C964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lt-LT" altLang="en-US"/>
              <a:t>Priešdėlių vediniai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44A1D760-8360-C7DD-404A-2B77DC1E21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lt-LT" altLang="en-US"/>
              <a:t>Vartosenoje konkuruojančios poros:</a:t>
            </a:r>
          </a:p>
          <a:p>
            <a:pPr eaLnBrk="1" hangingPunct="1"/>
            <a:r>
              <a:rPr lang="lt-LT" altLang="en-US"/>
              <a:t>1) ž. su priešdėliu / be priešdėlio</a:t>
            </a:r>
          </a:p>
          <a:p>
            <a:pPr eaLnBrk="1" hangingPunct="1"/>
            <a:r>
              <a:rPr lang="lt-LT" altLang="en-US"/>
              <a:t>2) ž. su x priešdėliu / su y priešdėliu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/>
      <p:bldP spid="2560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80875069-F6B1-5784-49B5-8E1CD97A03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lt-LT" altLang="en-US"/>
              <a:t>Priešdėlių vediniai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24ACE251-B4F7-E713-FCA5-B0B7659060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lt-LT" altLang="en-US" b="1"/>
              <a:t>1)</a:t>
            </a:r>
            <a:r>
              <a:rPr lang="lt-LT" altLang="en-US"/>
              <a:t> </a:t>
            </a:r>
            <a:r>
              <a:rPr lang="lt-LT" altLang="en-US" b="1"/>
              <a:t>svetimi ir nevartotini, </a:t>
            </a:r>
            <a:r>
              <a:rPr lang="lt-LT" altLang="en-US"/>
              <a:t>pvz., </a:t>
            </a:r>
            <a:r>
              <a:rPr lang="lt-LT" altLang="en-US" i="1"/>
              <a:t>danešti (nunešti), daeiti (prieiti), daleiskim (tarkim);</a:t>
            </a:r>
          </a:p>
          <a:p>
            <a:pPr eaLnBrk="1" hangingPunct="1">
              <a:buFontTx/>
              <a:buNone/>
            </a:pPr>
            <a:r>
              <a:rPr lang="lt-LT" altLang="en-US" b="1"/>
              <a:t>2)</a:t>
            </a:r>
            <a:r>
              <a:rPr lang="lt-LT" altLang="en-US"/>
              <a:t> </a:t>
            </a:r>
            <a:r>
              <a:rPr lang="lt-LT" altLang="en-US" b="1"/>
              <a:t>nereikalingi</a:t>
            </a:r>
            <a:r>
              <a:rPr lang="lt-LT" altLang="en-US"/>
              <a:t>, pvz., </a:t>
            </a:r>
            <a:r>
              <a:rPr lang="lt-LT" altLang="en-US" i="1" u="sng"/>
              <a:t>prisilaikyti</a:t>
            </a:r>
            <a:r>
              <a:rPr lang="lt-LT" altLang="en-US" i="1"/>
              <a:t> (laikytis) įstatymų; </a:t>
            </a:r>
            <a:r>
              <a:rPr lang="lt-LT" altLang="en-US" i="1" u="sng"/>
              <a:t>pasitobulinimo</a:t>
            </a:r>
            <a:r>
              <a:rPr lang="lt-LT" altLang="en-US" i="1"/>
              <a:t> (tobulinimosi) kursai; </a:t>
            </a:r>
            <a:r>
              <a:rPr lang="lt-LT" altLang="en-US" i="1" u="sng"/>
              <a:t>prabalsavo</a:t>
            </a:r>
            <a:r>
              <a:rPr lang="lt-LT" altLang="en-US" i="1"/>
              <a:t> (balsavo) 80 proc. narių</a:t>
            </a:r>
            <a:r>
              <a:rPr lang="lt-LT" altLang="en-US"/>
              <a:t>; </a:t>
            </a:r>
            <a:r>
              <a:rPr lang="lt-LT" altLang="en-US" i="1"/>
              <a:t>paskaitą </a:t>
            </a:r>
            <a:r>
              <a:rPr lang="lt-LT" altLang="en-US" i="1" u="sng"/>
              <a:t>pravedė</a:t>
            </a:r>
            <a:r>
              <a:rPr lang="lt-LT" altLang="en-US" i="1"/>
              <a:t> (vedė) dėstytojas iš Kauno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/>
      <p:bldP spid="2765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5D695C3-A8C8-FE61-699E-B5EC6F7C65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lt-LT" altLang="en-US"/>
              <a:t>Priešdėlių vediniai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5FC8B16-7C42-CEF3-B5BE-C74020C9A4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lt-LT" altLang="en-US" b="1"/>
              <a:t>3) netinkami, </a:t>
            </a:r>
            <a:r>
              <a:rPr lang="lt-LT" altLang="en-US" i="1"/>
              <a:t>pvz., </a:t>
            </a:r>
            <a:r>
              <a:rPr lang="lt-LT" altLang="en-US" i="1" u="sng"/>
              <a:t>prakonsultuoti</a:t>
            </a:r>
            <a:r>
              <a:rPr lang="lt-LT" altLang="en-US" i="1"/>
              <a:t> (pakonsultuoti) ligonį; </a:t>
            </a:r>
            <a:r>
              <a:rPr lang="lt-LT" altLang="en-US" i="1" u="sng"/>
              <a:t>atremontuoti </a:t>
            </a:r>
            <a:r>
              <a:rPr lang="lt-LT" altLang="en-US" i="1"/>
              <a:t>(suremontuoti) butą; </a:t>
            </a:r>
            <a:r>
              <a:rPr lang="lt-LT" altLang="en-US" i="1" u="sng"/>
              <a:t>priduoti</a:t>
            </a:r>
            <a:r>
              <a:rPr lang="lt-LT" altLang="en-US" i="1"/>
              <a:t> (atiduoti) namą; </a:t>
            </a:r>
            <a:r>
              <a:rPr lang="lt-LT" altLang="en-US" i="1" u="sng"/>
              <a:t>praanalizuoti</a:t>
            </a:r>
            <a:r>
              <a:rPr lang="lt-LT" altLang="en-US" i="1"/>
              <a:t> (išanalizuoti) klaidas;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lt-LT" altLang="en-US" b="1"/>
              <a:t>4) visą priešdėlinį vedinį reikia keisti kitu žodžiu, </a:t>
            </a:r>
            <a:r>
              <a:rPr lang="lt-LT" altLang="en-US"/>
              <a:t>pvz., </a:t>
            </a:r>
            <a:r>
              <a:rPr lang="lt-LT" altLang="en-US" i="1" u="sng"/>
              <a:t>pergyventi</a:t>
            </a:r>
            <a:r>
              <a:rPr lang="lt-LT" altLang="en-US" i="1"/>
              <a:t> (jaudintis); darbas </a:t>
            </a:r>
            <a:r>
              <a:rPr lang="lt-LT" altLang="en-US" i="1" u="sng"/>
              <a:t>iššaukė</a:t>
            </a:r>
            <a:r>
              <a:rPr lang="lt-LT" altLang="en-US" i="1"/>
              <a:t> (sukėlė) ligą; </a:t>
            </a:r>
            <a:r>
              <a:rPr lang="lt-LT" altLang="en-US" i="1" u="sng"/>
              <a:t>apspręsti</a:t>
            </a:r>
            <a:r>
              <a:rPr lang="lt-LT" altLang="en-US" i="1"/>
              <a:t> (lemti) likimą</a:t>
            </a:r>
            <a:r>
              <a:rPr lang="lt-LT" altLang="en-US"/>
              <a:t>; </a:t>
            </a:r>
            <a:r>
              <a:rPr lang="lt-LT" altLang="en-US" i="1" u="sng"/>
              <a:t>priimti priesaiką</a:t>
            </a:r>
            <a:r>
              <a:rPr lang="lt-LT" altLang="en-US" i="1"/>
              <a:t> (prisiekti); </a:t>
            </a:r>
            <a:r>
              <a:rPr lang="lt-LT" altLang="en-US" i="1" u="sng"/>
              <a:t>užvedamas</a:t>
            </a:r>
            <a:r>
              <a:rPr lang="lt-LT" altLang="en-US" i="1"/>
              <a:t> (prisukamas) žaislas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/>
      <p:bldP spid="819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0FC3ED5-F135-8C69-9D30-E47F337ED5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7086600" cy="914400"/>
          </a:xfrm>
        </p:spPr>
        <p:txBody>
          <a:bodyPr/>
          <a:lstStyle/>
          <a:p>
            <a:pPr eaLnBrk="1" hangingPunct="1"/>
            <a:endParaRPr lang="en-US" altLang="en-US" sz="4000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6BB18FC7-25EF-5CFE-7FB4-D7C81C478A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pPr eaLnBrk="1" hangingPunct="1"/>
            <a:r>
              <a:rPr lang="lt-LT" altLang="en-US"/>
              <a:t>Priešdėlis </a:t>
            </a:r>
            <a:r>
              <a:rPr lang="lt-LT" altLang="en-US" b="1"/>
              <a:t>be –</a:t>
            </a:r>
            <a:r>
              <a:rPr lang="lt-LT" altLang="en-US"/>
              <a:t> nededamas prie būdvardžių, turinčių priesagą </a:t>
            </a:r>
            <a:r>
              <a:rPr lang="lt-LT" altLang="en-US" b="1"/>
              <a:t>–inis,</a:t>
            </a:r>
            <a:r>
              <a:rPr lang="lt-LT" altLang="en-US"/>
              <a:t> pvz.: </a:t>
            </a:r>
            <a:r>
              <a:rPr lang="lt-LT" altLang="en-US" i="1"/>
              <a:t>bankas suteikė </a:t>
            </a:r>
            <a:r>
              <a:rPr lang="lt-LT" altLang="en-US" i="1" u="sng"/>
              <a:t>bepalūkaninį</a:t>
            </a:r>
            <a:r>
              <a:rPr lang="lt-LT" altLang="en-US" i="1"/>
              <a:t> kreditą (nepalūkaninį, kreditą be palūkanų);</a:t>
            </a:r>
          </a:p>
          <a:p>
            <a:pPr eaLnBrk="1" hangingPunct="1"/>
            <a:r>
              <a:rPr lang="lt-LT" altLang="en-US"/>
              <a:t>Nevartotini vediniai su priešdėliu</a:t>
            </a:r>
            <a:r>
              <a:rPr lang="lt-LT" altLang="en-US" b="1"/>
              <a:t> nu-</a:t>
            </a:r>
            <a:r>
              <a:rPr lang="lt-LT" altLang="en-US"/>
              <a:t> ir priesaga </a:t>
            </a:r>
            <a:r>
              <a:rPr lang="lt-LT" altLang="en-US" b="1"/>
              <a:t>–inti, </a:t>
            </a:r>
            <a:r>
              <a:rPr lang="lt-LT" altLang="en-US"/>
              <a:t>pvz.:</a:t>
            </a:r>
            <a:r>
              <a:rPr lang="lt-LT" altLang="en-US" b="1"/>
              <a:t> </a:t>
            </a:r>
            <a:r>
              <a:rPr lang="lt-LT" altLang="en-US" i="1" u="sng"/>
              <a:t>nuriebalinti</a:t>
            </a:r>
            <a:r>
              <a:rPr lang="lt-LT" altLang="en-US" i="1"/>
              <a:t> (pašalinti riebalus); </a:t>
            </a:r>
            <a:r>
              <a:rPr lang="lt-LT" altLang="en-US" i="1" u="sng"/>
              <a:t>nužievinti</a:t>
            </a:r>
            <a:r>
              <a:rPr lang="lt-LT" altLang="en-US" i="1"/>
              <a:t> (nulupti žievę); nuskausminti ?</a:t>
            </a:r>
          </a:p>
          <a:p>
            <a:pPr eaLnBrk="1" hangingPunct="1"/>
            <a:r>
              <a:rPr lang="lt-LT" altLang="en-US" b="1"/>
              <a:t>Išimtis </a:t>
            </a:r>
            <a:r>
              <a:rPr lang="lt-LT" altLang="en-US" i="1"/>
              <a:t>nutautinti.</a:t>
            </a:r>
          </a:p>
          <a:p>
            <a:pPr eaLnBrk="1" hangingPunct="1"/>
            <a:endParaRPr lang="lt-LT" altLang="en-US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/>
      <p:bldP spid="1024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3A88B53-FEAB-3187-3ECC-8A70A981FD7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r>
              <a:rPr lang="lt-LT" altLang="en-US" sz="5400"/>
              <a:t>Dūriniai</a:t>
            </a:r>
            <a:endParaRPr lang="en-US" altLang="en-US" sz="5400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84366590-39CD-D45E-0770-D88F6ED6273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en-US" altLang="en-US" sz="3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58F1D79-D122-7F17-AE12-8075D5C329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lt-LT" altLang="en-US"/>
              <a:t>Būdingiausios klaidos</a:t>
            </a:r>
            <a:endParaRPr lang="en-US" altLang="en-US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04C25ED0-0A44-396D-DFF6-A786944410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/>
              <a:t>1. </a:t>
            </a:r>
            <a:r>
              <a:rPr lang="lt-LT" altLang="en-US"/>
              <a:t>Keistini sudurtiniai sutrauktiniai žodžiai, sudaryti iš vieno ar kelių žodžių pradžios ir paskutinio viso žodžio, pvz.: </a:t>
            </a:r>
            <a:r>
              <a:rPr lang="lt-LT" altLang="en-US" i="1" u="sng"/>
              <a:t>dietgydytojas</a:t>
            </a:r>
            <a:r>
              <a:rPr lang="lt-LT" altLang="en-US" i="1"/>
              <a:t> (dietologas), </a:t>
            </a:r>
            <a:r>
              <a:rPr lang="lt-LT" altLang="en-US" i="1" u="sng"/>
              <a:t>medsesuo</a:t>
            </a:r>
            <a:r>
              <a:rPr lang="lt-LT" altLang="en-US" i="1"/>
              <a:t> (medicinos sesuo), </a:t>
            </a:r>
            <a:r>
              <a:rPr lang="lt-LT" altLang="en-US" i="1" u="sng"/>
              <a:t>vyrinžinierius </a:t>
            </a:r>
            <a:r>
              <a:rPr lang="lt-LT" altLang="en-US" i="1"/>
              <a:t>(vyriausiasis, vyresnysis), </a:t>
            </a:r>
            <a:r>
              <a:rPr lang="lt-LT" altLang="en-US" i="1" u="sng"/>
              <a:t>bendragamyklinis</a:t>
            </a:r>
            <a:r>
              <a:rPr lang="lt-LT" altLang="en-US" i="1"/>
              <a:t> (bendras, visos gamyklos), </a:t>
            </a:r>
            <a:r>
              <a:rPr lang="lt-LT" altLang="en-US" i="1" u="sng"/>
              <a:t>visagalintis</a:t>
            </a:r>
            <a:r>
              <a:rPr lang="lt-LT" altLang="en-US" i="1"/>
              <a:t> (visa galintis).</a:t>
            </a:r>
            <a:endParaRPr lang="en-US" altLang="en-US" i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ACC2606-EB50-EF49-71FC-DA8213B384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lt-LT" altLang="en-US"/>
              <a:t>Būdingiausios klaidos</a:t>
            </a:r>
            <a:endParaRPr lang="en-US" altLang="en-U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BB53FB1D-8B9F-00D8-ACD2-F6F5BE789D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2. Kai vienas d</a:t>
            </a:r>
            <a:r>
              <a:rPr lang="lt-LT" altLang="en-US"/>
              <a:t>ė</a:t>
            </a:r>
            <a:r>
              <a:rPr lang="en-US" altLang="en-US"/>
              <a:t>muo yra tarptautinis, o kitas lietuvi</a:t>
            </a:r>
            <a:r>
              <a:rPr lang="lt-LT" altLang="en-US"/>
              <a:t>škas, taip pat reikia keisti tokį žodį, pvz.: </a:t>
            </a:r>
            <a:r>
              <a:rPr lang="lt-LT" altLang="en-US" i="1" u="sng"/>
              <a:t>autodalys</a:t>
            </a:r>
            <a:r>
              <a:rPr lang="lt-LT" altLang="en-US" i="1"/>
              <a:t> (automobilių dalys), </a:t>
            </a:r>
            <a:r>
              <a:rPr lang="lt-LT" altLang="en-US" i="1" u="sng"/>
              <a:t>eksprestarnyba (skubioji tarnyba)</a:t>
            </a:r>
            <a:r>
              <a:rPr lang="lt-LT" altLang="en-US" i="1"/>
              <a:t>, elektroprekės (elektros prekės).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lt-LT" altLang="en-US"/>
              <a:t>Tais atvejais, kai pirmasis dėmuo niekada nevartojamas atskiru žodžiu, darinio nekeičiame: </a:t>
            </a:r>
            <a:r>
              <a:rPr lang="lt-LT" altLang="en-US" i="1"/>
              <a:t>fotoaparatas, aviakatastrofa, makroekonomika.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BF308B6-E968-EA03-9096-C65CBE707F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lt-LT" altLang="en-US"/>
              <a:t>Būdingiausios klaidos</a:t>
            </a:r>
            <a:endParaRPr lang="en-US" altLang="en-US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08F65364-6518-C3D6-B7D2-93F94D3AA0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/>
              <a:t>3.</a:t>
            </a:r>
            <a:r>
              <a:rPr lang="lt-LT" altLang="en-US"/>
              <a:t> Neteiktini asmenis reiškiantys priesagos </a:t>
            </a:r>
            <a:r>
              <a:rPr lang="lt-LT" altLang="en-US" i="1"/>
              <a:t>–ietis</a:t>
            </a:r>
            <a:r>
              <a:rPr lang="lt-LT" altLang="en-US"/>
              <a:t> žodžiai, padaryti iš gyvenamųjų, darbo vietų, įstaigų pavadinimų, pvz.: </a:t>
            </a:r>
            <a:r>
              <a:rPr lang="lt-LT" altLang="en-US" i="1" u="sng"/>
              <a:t>naujavilnietis</a:t>
            </a:r>
            <a:r>
              <a:rPr lang="lt-LT" altLang="en-US" i="1"/>
              <a:t> (Naujosios Vilnios gyventojas</a:t>
            </a:r>
            <a:r>
              <a:rPr lang="lt-LT" altLang="en-US"/>
              <a:t>), </a:t>
            </a:r>
            <a:r>
              <a:rPr lang="lt-LT" altLang="en-US" i="1"/>
              <a:t>naujazelandietis (Naujosios Zelandijos gyventojas)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968C175-4E5D-FEA8-0435-67D73D0767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lt-LT" altLang="en-US"/>
              <a:t>Daiktavardžių dūryba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E4688154-8273-65BC-5A83-3504859FF2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lt-LT" altLang="en-US"/>
              <a:t>Sudarant sudurtinius daiktavardžius (ir priešdėlių vedinius) dažniausiai keičiasi galūnė (ar net giminė), pvz.: </a:t>
            </a:r>
            <a:r>
              <a:rPr lang="lt-LT" altLang="en-US" i="1"/>
              <a:t>puskepalis, stalviršis, gipskartonis, grindjuostė, pasaulis, pakrantė</a:t>
            </a:r>
            <a:r>
              <a:rPr lang="lt-LT" altLang="en-US"/>
              <a:t>, </a:t>
            </a:r>
            <a:r>
              <a:rPr lang="lt-LT" altLang="en-US" i="1"/>
              <a:t>bendraatsakov_s, bendrasavinink_s, bendraautor_s, proanūk_s, kilovatvaland_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D19ADA1-EE39-53C8-E897-A925BFA661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lt-LT" altLang="en-US"/>
              <a:t>Daiktavardžių dūryba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AEF0F2EA-DC96-AE35-B305-ADE9608D4E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lt-LT" altLang="en-US"/>
              <a:t>Galūnė nekinta:</a:t>
            </a:r>
          </a:p>
          <a:p>
            <a:pPr eaLnBrk="1" hangingPunct="1"/>
            <a:r>
              <a:rPr lang="lt-LT" altLang="en-US"/>
              <a:t>a) jeigu antras dėmuo daiktavardis su galūne –is, pvz.: pusbrolis, veiksmažodis, juodalksnis...</a:t>
            </a:r>
          </a:p>
          <a:p>
            <a:pPr eaLnBrk="1" hangingPunct="1"/>
            <a:r>
              <a:rPr lang="lt-LT" altLang="en-US"/>
              <a:t>b) jeigu pirmu dėmeniu eina svetimos kilmės elementas (autoservisas, motoklubas, mikrorajonas...)</a:t>
            </a:r>
          </a:p>
          <a:p>
            <a:pPr eaLnBrk="1" hangingPunct="1"/>
            <a:r>
              <a:rPr lang="lt-LT" altLang="en-US"/>
              <a:t>Kūnas – antikūn_s ???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/>
      <p:bldP spid="24579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7E3BADAC-8FB3-EA9C-D850-2B82F790C6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lt-LT" altLang="en-US"/>
              <a:t>Būdingiausios klaidos</a:t>
            </a:r>
            <a:endParaRPr lang="en-US" altLang="en-US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54140CEE-5296-E303-B3A6-847DE89F0C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/>
              <a:t>5. Nevartotini sudurtiniai </a:t>
            </a:r>
            <a:r>
              <a:rPr lang="lt-LT" altLang="en-US"/>
              <a:t>žodžiai su priesaga –</a:t>
            </a:r>
            <a:r>
              <a:rPr lang="lt-LT" altLang="en-US" b="1" i="1"/>
              <a:t>umas</a:t>
            </a:r>
            <a:r>
              <a:rPr lang="lt-LT" altLang="en-US"/>
              <a:t>. Jie keistini dviem žodžiais ar kitu žodžiu, pvz.: </a:t>
            </a:r>
            <a:r>
              <a:rPr lang="lt-LT" altLang="en-US" i="1" u="sng"/>
              <a:t>savitvardumas</a:t>
            </a:r>
            <a:r>
              <a:rPr lang="lt-LT" altLang="en-US" i="1"/>
              <a:t> (savitvarda), darbaimlumas (darbo imlumas).</a:t>
            </a:r>
          </a:p>
          <a:p>
            <a:pPr eaLnBrk="1" hangingPunct="1">
              <a:buFontTx/>
              <a:buNone/>
            </a:pPr>
            <a:r>
              <a:rPr lang="en-US" altLang="en-US"/>
              <a:t>6. Reikia keisti d</a:t>
            </a:r>
            <a:r>
              <a:rPr lang="lt-LT" altLang="en-US"/>
              <a:t>ū</a:t>
            </a:r>
            <a:r>
              <a:rPr lang="en-US" altLang="en-US"/>
              <a:t>rinius </a:t>
            </a:r>
            <a:r>
              <a:rPr lang="lt-LT" altLang="en-US"/>
              <a:t>su visu dėmeniu </a:t>
            </a:r>
            <a:r>
              <a:rPr lang="lt-LT" altLang="en-US" b="1" i="1"/>
              <a:t>pusiau</a:t>
            </a:r>
            <a:r>
              <a:rPr lang="lt-LT" altLang="en-US"/>
              <a:t>, pvz.: </a:t>
            </a:r>
            <a:r>
              <a:rPr lang="lt-LT" altLang="en-US" i="1" u="sng"/>
              <a:t>pusiauautomatinis</a:t>
            </a:r>
            <a:r>
              <a:rPr lang="lt-LT" altLang="en-US" i="1"/>
              <a:t> (pusautomatis), </a:t>
            </a:r>
            <a:r>
              <a:rPr lang="lt-LT" altLang="en-US" i="1" u="sng"/>
              <a:t>pusiaukrūmis</a:t>
            </a:r>
            <a:r>
              <a:rPr lang="lt-LT" altLang="en-US" i="1"/>
              <a:t> (puskrūmis).</a:t>
            </a:r>
            <a:endParaRPr lang="en-US" altLang="en-US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/>
      <p:bldP spid="22531" grpId="0" build="p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503</Words>
  <Application>Microsoft Office PowerPoint</Application>
  <PresentationFormat>On-screen Show (4:3)</PresentationFormat>
  <Paragraphs>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Default Design</vt:lpstr>
      <vt:lpstr>Priešdėlių vediniai</vt:lpstr>
      <vt:lpstr>Priešdėlių vediniai</vt:lpstr>
      <vt:lpstr>Priešdėlių vediniai</vt:lpstr>
      <vt:lpstr>PowerPoint Presentation</vt:lpstr>
      <vt:lpstr>Dūriniai</vt:lpstr>
      <vt:lpstr>Būdingiausios klaidos</vt:lpstr>
      <vt:lpstr>Būdingiausios klaidos</vt:lpstr>
      <vt:lpstr>Būdingiausios klaidos</vt:lpstr>
      <vt:lpstr>Daiktavardžių dūryba</vt:lpstr>
      <vt:lpstr>Daiktavardžių dūryba</vt:lpstr>
      <vt:lpstr>Būdingiausios klaidos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Vilma Leonavičienė</dc:creator>
  <cp:lastModifiedBy>Vilma Leonavičienė</cp:lastModifiedBy>
  <cp:revision>9</cp:revision>
  <cp:lastPrinted>1601-01-01T00:00:00Z</cp:lastPrinted>
  <dcterms:created xsi:type="dcterms:W3CDTF">1601-01-01T00:00:00Z</dcterms:created>
  <dcterms:modified xsi:type="dcterms:W3CDTF">2025-10-28T13:03:37Z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