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28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KALBOS KULTŪRA: ŽODYNAS IR TERMINAI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 • darbas poromis ir grupėmis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Taisykite sakinius, aiškinkite pasirinkimus, lyginkite variantus.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Temos: leksika, skoliniai, vertalai, semantizmai, žodžių daryba, terminai.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01 / 28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Kaip dirbsime?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žingsniai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Perskaitykite sakinį ir nustatykite, ar jį reikia taisyti.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Pasiūlykite taisyklingesnį variantą.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Paaiškinkite, ką ir kodėl pakeitėte.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02 / 28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Svetimybės kasdienėje kalboje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Pakeiskite paryškintus žodžius lietuviškais atitikmenimis.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Naujame ofise susitiko mūsų sponsoriai.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Printeris neveikia, todėl atsiųsk emeilą.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Šiame parkinge laisvų vietų nebėra.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Vadovas rūpinasi įmonės imidžu.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03 / 28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Darbo ir verslo kalba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Pataisykite sakinius.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Menedžeris pristatė naują marketingo planą.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Preskonferencijoje kalbėjo firmos sponsorius.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Biznierius išsinuomojo naują ofisą.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Gavome invoisą už suteiktas paslaugas.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04 / 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Tarptautiniai žodžiai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 galima pasakyti paprasčiau?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Būtina minimizuoti klaidų skaičių.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Problema bus sprendžiama kardinaliai.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Pristatymo metu akcentuosime rezultatus.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Ši sistema efektyviai funkcionuoja.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05 / 28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Nereikalingas reikšmės kartojimas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Pašalinkite perteklinius žodžius.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Tai svarbiausias mūsų prioritetas.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Įstaiga siūlo aptarnavimo servisą.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Susirinkime aptarsime ateities perspektyvas.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Visi dalyviai vienbalsiai pritarė bendram konsensusui.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06 / 28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Vienažodžiai vertalai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Raskite taisytiną žodį.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Projekto išdava nudžiugino komandą.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Šis sprendimas įtakos darbo eigą.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Jos išsireiškimas buvo neaiškus.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Jis yra labai žingeidus studentas.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07 / 28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Daugiažodžiai vertalai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Perrašykite sakinius.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Kaip taisyklė, paskaitos prasideda devintą.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Kas liečia terminus, jų vartojimą dar aptarsime.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Pirmoje eilėje patikrinkite duomenis.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Kartas nuo karto peržiūrime žodyną.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08 / 28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Semantizmai: veiksmažodžiai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Parinkite tinkamesnius veiksmažodžius.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Šis veiksnys iššaukė neigiamą reakciją.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Rytoj pravesime diskusiją.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Komanda neša atsakomybę už projektą.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Sudėtinga situacija privertė pergyventi.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09 / 28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Semantizmai: reikšmės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Atsižvelkite į sakinio prasmę.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Sekančiame skyriuje aptarsime rezultatus.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Tyrėjai pateikė visą eilę pavyzdžių.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Šis vaistas gali turėti pašalinį poveikį.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Studentas padarė grubią klaidą.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10 / 28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Žodžių junginiai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Pataisykite netinkamą žodžių vartojimą.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Gydytojas uždėjo baudą už taisyklių pažeidimą.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Prašome priimti vaistus po valgio.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Sekretorė sustatė susitikimų grafiką.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Ji užima skyriaus vadovės pareigas.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11 / 28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Priešdėliai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Ištaisykite priešdėlių klaidas.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Daleiskime, kad turime daugiau laiko.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Iki penktadienio damokėsime likusią sumą.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Prašome prisilaikyti nustatytos tvarkos.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Rytoj pravesime mokymus.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12 / 28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Priesagos: asmuo ar prietaisas?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Pakeiskite netinkamus prietaisų pavadinimus.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Sugedo šviesos išjungėjas.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Namuose trūksta laido prailgintojo.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Naujasis perjungėjas veikia puikiai.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Įsigijome elektrinį masažuotoją.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13 / 28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Priesagos ir daryba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Pataisykite žodžius.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Kaimynka padėjo paruošti salę.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Nusipirkome naują cukrinyčią.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Tai labai perspektyviškas sumanymas.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Ji dėkavojo visiems dalyviams.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14 / 28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Sudurtiniai žodžiai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Pasiūlykite taisyklingesnę raišką.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Autodalys pristatomos per dvi dienas.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Įmonė mažina elektroenergijos sąnaudas.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Tai naujas kinostudijos projektas.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Vertiname produkto gerakokybiškumą.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15 / 28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Terminų samprata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Aptarkite ir pagrįskite.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Kuo terminas skiriasi nuo įprasto žodžio?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Ar „morfologija“ visose srityse reiškia tą patį?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Kodėl termino apibrėžtis turi būti tiksli?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Sukurkite vieno savo srities termino apibrėžtį.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16 / 28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Vientisiniai ar sudėtiniai?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Suskirstykite terminus į dvi grupes.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Briaunainis • mobilusis telefonas • geltonkerpė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Ilgieji balsiai • akademinis mobilumas • šviesoforas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Kurių terminų reikšmę lengviau suprasti iš sandaros?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17 / 28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Gimininiai ir rūšiniai terminai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Sudarykite sąvokų hierarchiją.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Daiktavardis → tikrinis daiktavardis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Spygliuotis → pušis / eglė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Serbentai → baltieji serbentai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Nurodykite hiperonimus, hiponimus ir ekvonimus.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18 / 28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Terminų gramatika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Sutvarkykite žodžių tvarką.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Ugdymo alternatyvus modelis.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Paraiškų ekspertinis vertinimas.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Skaičiai sveikieji.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Kremas drėkinamasis.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19 / 28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Terminų taisyklingumas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Ištaisykite netinkamą darybą ar rašybą.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Automatinis perjungėjas.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Vyrinžinierius.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Makijažas.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Kuri taisymo priežastis svarbiausia kiekvienu atveju?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20 / 28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 Termino kokybė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Įvertinkite pagal 4 kriterijus.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Tikslumas • sistemiškumas • trumpumas • stilistinis neutralumas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Palyginkite: laptopas / nešiojamasis kompiuteris.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Palyginkite: lizingas / išperkamoji nuoma.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Ar trumpiausias variantas visada tinkamiausias?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21 / 28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 Terminų bankas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 paieškos užduotis.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Atverkite terminai.vlkk.lt.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Suraskite vieną savo studijų ar darbo srities terminą.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Užrašykite jo apibrėžtį ir statusą.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Paaiškinkite skirtumą: aprobuotas / teiktinas / neteiktinas.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22 / 28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21. Redaktoriaus iššūkis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Ištaisykite visą trumpą tekstą.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Kaip taisyklė, mūsų ofiso menedžeris pravedė preskonferenciją.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Jis akcentavo, kad sekantį mėnesį būtina minimizuoti išlaidas.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Tai įtakos projekto išdavas, todėl visi nešame atsakomybę.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23 / 28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PRAKTINĖS UŽDUOTYS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22. Ar viską būtina taisyti?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Pažymėkite taisyklingus sakinius ir paaiškinkite.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1. Mokslininkai tyrė ląstelių morfologiją.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2. Ši programa veikia patikimai.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3. Pranešimą pateiksime elektroniniu paštu.</a:t>
            </a:r>
            <a:endParaRPr lang="en-US" sz="2196" dirty="0"/>
          </a:p>
          <a:p>
            <a:pPr marL="0" indent="0">
              <a:buNone/>
            </a:pPr>
            <a:endParaRPr lang="en-US" sz="2196" dirty="0"/>
          </a:p>
          <a:p>
            <a:pPr marL="0" indent="0">
              <a:buNone/>
            </a:pPr>
            <a:r>
              <a:rPr lang="en-US" sz="2196" dirty="0">
                <a:solidFill>
                  <a:srgbClr val="183147"/>
                </a:solidFill>
              </a:rPr>
              <a:t>4. Šiame tyrime taikoma sisteminė analizė.</a:t>
            </a:r>
            <a:endParaRPr lang="en-US" sz="21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24 / 28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ATSAKYMAI IR APTARIMAS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23. Atsakymai: leksika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Pasitikrinkite 1–6 užduotis.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96" dirty="0">
                <a:solidFill>
                  <a:srgbClr val="183147"/>
                </a:solidFill>
              </a:rPr>
              <a:t>1–2. ofisas → biuras; sponsorius → rėmėjas; printeris → spausdintuvas; emeilas → el. laiškas; parkingas → aikštelė; imidžas → įvaizdis; menedžeris → vadovas; marketingas → rinkodara; preskonferencija → spaudos konferencija; biznierius → verslininkas; invoisas → sąskaita faktūra.</a:t>
            </a:r>
            <a:endParaRPr lang="en-US" sz="1696" dirty="0"/>
          </a:p>
          <a:p>
            <a:pPr marL="0" indent="0">
              <a:buNone/>
            </a:pPr>
            <a:endParaRPr lang="en-US" sz="1696" dirty="0"/>
          </a:p>
          <a:p>
            <a:pPr marL="0" indent="0">
              <a:buNone/>
            </a:pPr>
            <a:r>
              <a:rPr lang="en-US" sz="1696" dirty="0">
                <a:solidFill>
                  <a:srgbClr val="183147"/>
                </a:solidFill>
              </a:rPr>
              <a:t>3–4. minimizuoti → sumažinti; kardinaliai → iš esmės; akcentuoti → pabrėžti; funkcionuoja → veikia; svarbiausias prioritetas → prioritetas; aptarnavimo servisas → aptarnavimas; ateities perspektyvos → perspektyvos; bendras konsensusas → sutarimas.</a:t>
            </a:r>
            <a:endParaRPr lang="en-US" sz="1696" dirty="0"/>
          </a:p>
          <a:p>
            <a:pPr marL="0" indent="0">
              <a:buNone/>
            </a:pPr>
            <a:endParaRPr lang="en-US" sz="1696" dirty="0"/>
          </a:p>
          <a:p>
            <a:pPr marL="0" indent="0">
              <a:buNone/>
            </a:pPr>
            <a:r>
              <a:rPr lang="en-US" sz="1696" dirty="0">
                <a:solidFill>
                  <a:srgbClr val="183147"/>
                </a:solidFill>
              </a:rPr>
              <a:t>5–6. išdava → rezultatas; įtakos → darys įtaką; išsireiškimas → pasakymas; žingeidus → smalsus; kaip taisyklė → paprastai; kas liečia → dėl; pirmoje eilėje → pirmiausia; kartas nuo karto → kartais.</a:t>
            </a:r>
            <a:endParaRPr lang="en-US" sz="16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25 / 28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ATSAKYMAI IR APTARIMAS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24. Atsakymai: reikšmė ir daryba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Pasitikrinkite 7–13 užduotis.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1" dirty="0">
                <a:solidFill>
                  <a:srgbClr val="183147"/>
                </a:solidFill>
              </a:rPr>
              <a:t>7–9. iššaukė → sukėlė; pravesime → surengsime / vesime; neša atsakomybę → yra atsakinga; pergyventi → jaudintis; sekantis → kitas; visa eilė → daug; pašalinis → šalutinis; grubi → šiurkšti; uždėjo baudą → skyrė baudą; priimti vaistus → vartoti vaistus; sustatė grafiką → sudarė grafiką; užima pareigas → eina pareigas.</a:t>
            </a:r>
            <a:endParaRPr lang="en-US" sz="1641" dirty="0"/>
          </a:p>
          <a:p>
            <a:pPr marL="0" indent="0">
              <a:buNone/>
            </a:pPr>
            <a:endParaRPr lang="en-US" sz="1641" dirty="0"/>
          </a:p>
          <a:p>
            <a:pPr marL="0" indent="0">
              <a:buNone/>
            </a:pPr>
            <a:r>
              <a:rPr lang="en-US" sz="1641" dirty="0">
                <a:solidFill>
                  <a:srgbClr val="183147"/>
                </a:solidFill>
              </a:rPr>
              <a:t>10–12. daleiskime → tarkime; damokėsime → primokėsime; prisilaikyti → laikytis; pravesime → vesime; išjungėjas → jungiklis; prailgintojas → ilgintuvas; perjungėjas → perjungiklis; masažuotojas → masažuoklis; kaimynka → kaimynė; cukrinyčia → cukrinė; perspektyviškas → perspektyvus; dėkavojo → dėkojo.</a:t>
            </a:r>
            <a:endParaRPr lang="en-US" sz="1641" dirty="0"/>
          </a:p>
          <a:p>
            <a:pPr marL="0" indent="0">
              <a:buNone/>
            </a:pPr>
            <a:endParaRPr lang="en-US" sz="1641" dirty="0"/>
          </a:p>
          <a:p>
            <a:pPr marL="0" indent="0">
              <a:buNone/>
            </a:pPr>
            <a:r>
              <a:rPr lang="en-US" sz="1641" dirty="0">
                <a:solidFill>
                  <a:srgbClr val="183147"/>
                </a:solidFill>
              </a:rPr>
              <a:t>13. autodalys → automobilių dalys; elektroenergija → elektros energija; kinostudija → kino studija; gerakokybiškumas → gera kokybė.</a:t>
            </a:r>
            <a:endParaRPr lang="en-US" sz="1641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26 / 28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ATSAKYMAI IR APTARIMAS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 Atsakymai: terminai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Pasitikrinkite 14–20 užduotis.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9" dirty="0">
                <a:solidFill>
                  <a:srgbClr val="183147"/>
                </a:solidFill>
              </a:rPr>
              <a:t>14. Terminą apibrėžia aiškiai nustatyta sąvoka; „morfologija“ skirtingose srityse turi skirtingas termines reikšmes.</a:t>
            </a:r>
            <a:endParaRPr lang="en-US" sz="1509" dirty="0"/>
          </a:p>
          <a:p>
            <a:pPr marL="0" indent="0">
              <a:buNone/>
            </a:pPr>
            <a:endParaRPr lang="en-US" sz="1509" dirty="0"/>
          </a:p>
          <a:p>
            <a:pPr marL="0" indent="0">
              <a:buNone/>
            </a:pPr>
            <a:r>
              <a:rPr lang="en-US" sz="1509" dirty="0">
                <a:solidFill>
                  <a:srgbClr val="183147"/>
                </a:solidFill>
              </a:rPr>
              <a:t>15. Vientisiniai: briaunainis, geltonkerpė, šviesoforas. Sudėtiniai: mobilusis telefonas, ilgieji balsiai, akademinis mobilumas.</a:t>
            </a:r>
            <a:endParaRPr lang="en-US" sz="1509" dirty="0"/>
          </a:p>
          <a:p>
            <a:pPr marL="0" indent="0">
              <a:buNone/>
            </a:pPr>
            <a:endParaRPr lang="en-US" sz="1509" dirty="0"/>
          </a:p>
          <a:p>
            <a:pPr marL="0" indent="0">
              <a:buNone/>
            </a:pPr>
            <a:r>
              <a:rPr lang="en-US" sz="1509" dirty="0">
                <a:solidFill>
                  <a:srgbClr val="183147"/>
                </a:solidFill>
              </a:rPr>
              <a:t>16. Hiperonimai: daiktavardis, spygliuotis, serbentai. Hiponimai: tikrinis daiktavardis, pušis, eglė, baltieji serbentai. Ekvonimai: pušis ir eglė.</a:t>
            </a:r>
            <a:endParaRPr lang="en-US" sz="1509" dirty="0"/>
          </a:p>
          <a:p>
            <a:pPr marL="0" indent="0">
              <a:buNone/>
            </a:pPr>
            <a:endParaRPr lang="en-US" sz="1509" dirty="0"/>
          </a:p>
          <a:p>
            <a:pPr marL="0" indent="0">
              <a:buNone/>
            </a:pPr>
            <a:r>
              <a:rPr lang="en-US" sz="1509" dirty="0">
                <a:solidFill>
                  <a:srgbClr val="183147"/>
                </a:solidFill>
              </a:rPr>
              <a:t>17–18. alternatyvus ugdymo modelis; ekspertinis paraiškų vertinimas; sveikieji skaičiai; drėkinamasis kremas; automatinis perjungiklis; vyresnysis / vyriausiasis inžinierius; makiažas.</a:t>
            </a:r>
            <a:endParaRPr lang="en-US" sz="1509" dirty="0"/>
          </a:p>
          <a:p>
            <a:pPr marL="0" indent="0">
              <a:buNone/>
            </a:pPr>
            <a:endParaRPr lang="en-US" sz="1509" dirty="0"/>
          </a:p>
          <a:p>
            <a:pPr marL="0" indent="0">
              <a:buNone/>
            </a:pPr>
            <a:r>
              <a:rPr lang="en-US" sz="1509" dirty="0">
                <a:solidFill>
                  <a:srgbClr val="183147"/>
                </a:solidFill>
              </a:rPr>
              <a:t>19–20. Sprendimai priklauso nuo konteksto; Terminų banke skiriami aprobuoti, teiktini ir neteiktini terminai.</a:t>
            </a:r>
            <a:endParaRPr lang="en-US" sz="1509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27 / 28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3" name="Text 1"/>
          <p:cNvSpPr/>
          <p:nvPr/>
        </p:nvSpPr>
        <p:spPr>
          <a:xfrm>
            <a:off x="640080" y="393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7E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ATSAKYMAI IR APTARIMAS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503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8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26. Galutinis aptarimas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645920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Redaktoriaus iššūkio pavyzdinis sprendimas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304288"/>
            <a:ext cx="10936224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FE7EB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5"/>
          <p:cNvSpPr/>
          <p:nvPr/>
        </p:nvSpPr>
        <p:spPr>
          <a:xfrm>
            <a:off x="932688" y="2551176"/>
            <a:ext cx="102870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96" dirty="0">
                <a:solidFill>
                  <a:srgbClr val="183147"/>
                </a:solidFill>
              </a:rPr>
              <a:t>Paprastai mūsų biuro vadovas surengė spaudos konferenciją.</a:t>
            </a:r>
            <a:endParaRPr lang="en-US" sz="1696" dirty="0"/>
          </a:p>
          <a:p>
            <a:pPr marL="0" indent="0">
              <a:buNone/>
            </a:pPr>
            <a:endParaRPr lang="en-US" sz="1696" dirty="0"/>
          </a:p>
          <a:p>
            <a:pPr marL="0" indent="0">
              <a:buNone/>
            </a:pPr>
            <a:r>
              <a:rPr lang="en-US" sz="1696" dirty="0">
                <a:solidFill>
                  <a:srgbClr val="183147"/>
                </a:solidFill>
              </a:rPr>
              <a:t>Jis pabrėžė, kad kitą mėnesį būtina sumažinti išlaidas.</a:t>
            </a:r>
            <a:endParaRPr lang="en-US" sz="1696" dirty="0"/>
          </a:p>
          <a:p>
            <a:pPr marL="0" indent="0">
              <a:buNone/>
            </a:pPr>
            <a:endParaRPr lang="en-US" sz="1696" dirty="0"/>
          </a:p>
          <a:p>
            <a:pPr marL="0" indent="0">
              <a:buNone/>
            </a:pPr>
            <a:r>
              <a:rPr lang="en-US" sz="1696" dirty="0">
                <a:solidFill>
                  <a:srgbClr val="183147"/>
                </a:solidFill>
              </a:rPr>
              <a:t>Tai turės įtakos projekto rezultatams, todėl visi esame atsakingi.</a:t>
            </a:r>
            <a:endParaRPr lang="en-US" sz="1696" dirty="0"/>
          </a:p>
          <a:p>
            <a:pPr marL="0" indent="0">
              <a:buNone/>
            </a:pPr>
            <a:endParaRPr lang="en-US" sz="1696" dirty="0"/>
          </a:p>
          <a:p>
            <a:pPr marL="0" indent="0">
              <a:buNone/>
            </a:pPr>
            <a:r>
              <a:rPr lang="en-US" sz="1696" dirty="0">
                <a:solidFill>
                  <a:srgbClr val="183147"/>
                </a:solidFill>
              </a:rPr>
              <a:t>22 užduotis: visi keturi sakiniai gali būti taisyklingi.</a:t>
            </a:r>
            <a:endParaRPr lang="en-US" sz="1696" dirty="0"/>
          </a:p>
        </p:txBody>
      </p:sp>
      <p:sp>
        <p:nvSpPr>
          <p:cNvPr id="8" name="Text 6"/>
          <p:cNvSpPr/>
          <p:nvPr/>
        </p:nvSpPr>
        <p:spPr>
          <a:xfrm>
            <a:off x="685800" y="6428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C7B"/>
                </a:solidFill>
              </a:rPr>
              <a:t>KALBOS KULTŪRA  •  LEKSIKA IR TERMINAI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0" y="640994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87E83"/>
                </a:solidFill>
              </a:rPr>
              <a:t>28 / 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1692</Words>
  <Application>Microsoft Office PowerPoint</Application>
  <PresentationFormat>Widescreen</PresentationFormat>
  <Paragraphs>352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Kalbos kultūros praktinės užduotys</dc:subject>
  <dc:creator>Mokomoji medžiaga</dc:creator>
  <cp:lastModifiedBy>Vilma Leonavičienė</cp:lastModifiedBy>
  <cp:revision>1</cp:revision>
  <dcterms:created xsi:type="dcterms:W3CDTF">2026-10-21T12:31:12Z</dcterms:created>
  <dcterms:modified xsi:type="dcterms:W3CDTF">2026-10-21T12:34:27Z</dcterms:modified>
</cp:coreProperties>
</file>